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Team 12, and we present Lou and Shu, 2017, "Price Impact or Trading Volume: Why Is the Amihud Measure Priced?" We replicated it on Binance crypto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Amihud measure is the average absolute return per dollar traded. Stocks that look illiquid by this measure earn a premium. The standard reading, on the left, is that investors are paid for price impact. Lou and Shu propose the reading on the right: the measure mostly reflects trading volume, so the premium may simply be a low-volume premium.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this plausible? Across assets, dollar volume varies enormously, while absolute returns vary little. So Amihud is almost the same as A_C, a version that keeps only one over volume. The correlation is 0.899 in the paper and 0.956 on Binance. Ksenia will now show how the authors test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split log Amihud into two parts: the volume part, log A_C, and a residual, estimated each month in a cross-sectional regression. If only the volume part is priced, the premium is about volume. If the residual is priced, it is about price impact.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measure the signal in month t minus 2, skip a month, and look at the return in month t. They use two standard tools: quintile sorts and Fama–MacBeth regressions, with Newey–West standard errors.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US stocks from 1964 to 2012, sorting on Amihud gives 0.56 percent per month, and sorting on A_C gives 0.61, both significant. Sorting on the residual gives a negative, insignificant spread. So volume is priced and the rest is not, and the authors conclude that the premium is not for price impact. Marat will now show what we got.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wrote our own code, and before touching real data, we checked it on simulated worlds. In world V, where only volume is priced, we find A_C priced in 100 percent of runs. In world P, where price impact is priced, we find the residual in 100 percent of runs. In world 0, where nothing is priced, false positives are 9.5 percent, a bit above the 5 percent target. So the pipeline can tell the hypotheses apart.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 are Binance spot USDT pairs from January 2019 to September 2026: 626 coins, 93 months, about 25 thousand coin-months, and three signals: A, A_C and the residual. On the timeline: two halves for the subperiod test, March 2021, and the last 36 months, where we have 5-minute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Coins differ from stocks in three ways. Liquidity varies much less: the interquartile ratio of A_C is 9 against 117. Coins move much more: the monthly return has a standard deviation of 44 percent. And coins trade more when they are volatile.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the cumulative high-minus-low return. One month stands out: March 2021, the altcoin season, when the volume spread jumped by 150 percentage points. Without that month, the average spread on A_C is only 0.09 percent per month.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result next to the paper's, on the same axes. The signs match: the top quintile beats the bottom for A and A_C, and the residual spread is negative. But our spreads are noisy: 1.70 percent per month for A_C with t of 1.1, so they are not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added four upgrades. A price-impact benchmark from 5-minute data correlates with Amihud at 0.615, close to the paper's 0.737. Amihud and Noh's missing covariance term is negative in 99 percent of coin-months, but it does not predict returns significantly. Sentiment does not explain the spread. And on the Moscow Exchange, the volume slope is positive and significant. Alexia will now talk about the limits of all this.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total, signs agree in 25 of 28 comparisons, and 8 of the paper's 21 significant results repeat, mostly the negative residual. The main problem is power: with 93 months instead of 588, the smallest premium we could detect is seven times the paper's premium. So the direction replicates, the significance does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Could this be overfitted? We fixed the specification before the first run and logged every test. 16 of 73 base tests pass 1.96, while about 4 to 6 would pass by chance; none survive a Bonferroni correction; and only 2 of 11 statistics are stable in a block bootstrap. So we treat our evidence as weak, and we say so openly.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Amihud is mostly volume, in stocks and in crypto. The paper's signs replicate on crypto. But to confirm its significance, we need far more than 93 months.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rnament.png"/>
          <p:cNvPicPr>
            <a:picLocks noChangeAspect="1"/>
          </p:cNvPicPr>
          <p:nvPr/>
        </p:nvPicPr>
        <p:blipFill>
          <a:blip r:embed="rId3"/>
          <a:stretch>
            <a:fillRect/>
          </a:stretch>
        </p:blipFill>
        <p:spPr>
          <a:xfrm>
            <a:off x="0" y="0"/>
            <a:ext cx="9144000" cy="5143500"/>
          </a:xfrm>
          <a:prstGeom prst="rect">
            <a:avLst/>
          </a:prstGeom>
        </p:spPr>
      </p:pic>
      <p:pic>
        <p:nvPicPr>
          <p:cNvPr id="3" name="Picture 2" descr="logo_full.png"/>
          <p:cNvPicPr>
            <a:picLocks noChangeAspect="1"/>
          </p:cNvPicPr>
          <p:nvPr/>
        </p:nvPicPr>
        <p:blipFill>
          <a:blip r:embed="rId4"/>
          <a:stretch>
            <a:fillRect/>
          </a:stretch>
        </p:blipFill>
        <p:spPr>
          <a:xfrm>
            <a:off x="429768" y="374904"/>
            <a:ext cx="658368" cy="658368"/>
          </a:xfrm>
          <a:prstGeom prst="rect">
            <a:avLst/>
          </a:prstGeom>
        </p:spPr>
      </p:pic>
      <p:sp>
        <p:nvSpPr>
          <p:cNvPr id="4" name="TextBox 3"/>
          <p:cNvSpPr txBox="1"/>
          <p:nvPr/>
        </p:nvSpPr>
        <p:spPr>
          <a:xfrm>
            <a:off x="1197864" y="429768"/>
            <a:ext cx="411480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Faculty of Computer Science</a:t>
            </a:r>
          </a:p>
          <a:p>
            <a:pPr algn="l">
              <a:lnSpc>
                <a:spcPct val="100000"/>
              </a:lnSpc>
            </a:pPr>
            <a:r>
              <a:rPr sz="1200" b="0" i="0">
                <a:solidFill>
                  <a:srgbClr val="0E2D69"/>
                </a:solidFill>
                <a:latin typeface="Arial"/>
              </a:rPr>
              <a:t>Data Science and Business Analytics</a:t>
            </a:r>
          </a:p>
        </p:txBody>
      </p:sp>
      <p:sp>
        <p:nvSpPr>
          <p:cNvPr id="5" name="TextBox 4"/>
          <p:cNvSpPr txBox="1"/>
          <p:nvPr/>
        </p:nvSpPr>
        <p:spPr>
          <a:xfrm>
            <a:off x="1197864" y="868680"/>
            <a:ext cx="4114800" cy="274320"/>
          </a:xfrm>
          <a:prstGeom prst="rect">
            <a:avLst/>
          </a:prstGeom>
          <a:noFill/>
        </p:spPr>
        <p:txBody>
          <a:bodyPr wrap="square" lIns="0" rIns="0" tIns="0" bIns="0" anchor="t">
            <a:spAutoFit/>
          </a:bodyPr>
          <a:lstStyle/>
          <a:p>
            <a:pPr algn="l">
              <a:lnSpc>
                <a:spcPct val="100000"/>
              </a:lnSpc>
            </a:pPr>
            <a:r>
              <a:rPr sz="900" b="0" i="0">
                <a:solidFill>
                  <a:srgbClr val="0E2D69"/>
                </a:solidFill>
                <a:latin typeface="Arial"/>
              </a:rPr>
              <a:t>Research seminar «Data analysis in finance»</a:t>
            </a:r>
          </a:p>
        </p:txBody>
      </p:sp>
      <p:sp>
        <p:nvSpPr>
          <p:cNvPr id="6" name="Title"/>
          <p:cNvSpPr txBox="1"/>
          <p:nvPr/>
        </p:nvSpPr>
        <p:spPr>
          <a:xfrm>
            <a:off x="429768" y="1316736"/>
            <a:ext cx="7680960" cy="914400"/>
          </a:xfrm>
          <a:prstGeom prst="rect">
            <a:avLst/>
          </a:prstGeom>
          <a:noFill/>
        </p:spPr>
        <p:txBody>
          <a:bodyPr wrap="square" lIns="0" rIns="0" tIns="0" bIns="0" anchor="t">
            <a:spAutoFit/>
          </a:bodyPr>
          <a:lstStyle/>
          <a:p>
            <a:pPr algn="l">
              <a:lnSpc>
                <a:spcPct val="95000"/>
              </a:lnSpc>
            </a:pPr>
            <a:r>
              <a:rPr sz="2600" b="0" i="0">
                <a:solidFill>
                  <a:srgbClr val="0E2D69"/>
                </a:solidFill>
                <a:latin typeface="Arial"/>
              </a:rPr>
              <a:t>Price Impact or Trading Volume:</a:t>
            </a:r>
          </a:p>
          <a:p>
            <a:pPr algn="l">
              <a:lnSpc>
                <a:spcPct val="95000"/>
              </a:lnSpc>
            </a:pPr>
            <a:r>
              <a:rPr sz="2600" b="0" i="0">
                <a:solidFill>
                  <a:srgbClr val="0E2D69"/>
                </a:solidFill>
                <a:latin typeface="Arial"/>
              </a:rPr>
              <a:t>Why Is the Amihud (2002) Measure Priced?</a:t>
            </a:r>
          </a:p>
        </p:txBody>
      </p:sp>
      <p:sp>
        <p:nvSpPr>
          <p:cNvPr id="7" name="TextBox 6"/>
          <p:cNvSpPr txBox="1"/>
          <p:nvPr/>
        </p:nvSpPr>
        <p:spPr>
          <a:xfrm>
            <a:off x="429768" y="2377440"/>
            <a:ext cx="7315200" cy="274320"/>
          </a:xfrm>
          <a:prstGeom prst="rect">
            <a:avLst/>
          </a:prstGeom>
          <a:noFill/>
        </p:spPr>
        <p:txBody>
          <a:bodyPr wrap="square" lIns="0" rIns="0" tIns="0" bIns="0" anchor="t">
            <a:spAutoFit/>
          </a:bodyPr>
          <a:lstStyle/>
          <a:p>
            <a:pPr algn="l">
              <a:lnSpc>
                <a:spcPct val="100000"/>
              </a:lnSpc>
            </a:pPr>
            <a:r>
              <a:rPr sz="1300" b="0" i="0">
                <a:solidFill>
                  <a:srgbClr val="0E2D69"/>
                </a:solidFill>
                <a:latin typeface="Arial"/>
              </a:rPr>
              <a:t>X. Lou, T. Shu, Review of Financial Studies, 2017 · replication on Binance</a:t>
            </a:r>
          </a:p>
        </p:txBody>
      </p:sp>
      <p:sp>
        <p:nvSpPr>
          <p:cNvPr id="8" name="TextBox 7"/>
          <p:cNvSpPr txBox="1"/>
          <p:nvPr/>
        </p:nvSpPr>
        <p:spPr>
          <a:xfrm>
            <a:off x="429768" y="3108960"/>
            <a:ext cx="7315200" cy="45720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Group 12: Andrey Tsember, Sofia Shapovalova, Ksenia Stepanova, Marat Bineman, Alexia Fox</a:t>
            </a:r>
          </a:p>
        </p:txBody>
      </p:sp>
      <p:sp>
        <p:nvSpPr>
          <p:cNvPr id="9" name="TextBox 8"/>
          <p:cNvSpPr txBox="1"/>
          <p:nvPr/>
        </p:nvSpPr>
        <p:spPr>
          <a:xfrm>
            <a:off x="429768" y="4224528"/>
            <a:ext cx="2743200" cy="274320"/>
          </a:xfrm>
          <a:prstGeom prst="rect">
            <a:avLst/>
          </a:prstGeom>
          <a:noFill/>
        </p:spPr>
        <p:txBody>
          <a:bodyPr wrap="square" lIns="0" rIns="0" tIns="0" bIns="0" anchor="t">
            <a:spAutoFit/>
          </a:bodyPr>
          <a:lstStyle/>
          <a:p>
            <a:pPr algn="l">
              <a:lnSpc>
                <a:spcPct val="100000"/>
              </a:lnSpc>
            </a:pPr>
            <a:r>
              <a:rPr sz="900" b="0" i="0">
                <a:solidFill>
                  <a:srgbClr val="0E2D69"/>
                </a:solidFill>
                <a:latin typeface="Arial"/>
              </a:rPr>
              <a:t>Moscow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2</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Problem</a:t>
            </a:r>
          </a:p>
        </p:txBody>
      </p:sp>
      <p:sp>
        <p:nvSpPr>
          <p:cNvPr id="6" name="TextBox 5"/>
          <p:cNvSpPr txBox="1"/>
          <p:nvPr/>
        </p:nvSpPr>
        <p:spPr>
          <a:xfrm>
            <a:off x="429768" y="1600200"/>
            <a:ext cx="3840480" cy="914400"/>
          </a:xfrm>
          <a:prstGeom prst="rect">
            <a:avLst/>
          </a:prstGeom>
          <a:noFill/>
        </p:spPr>
        <p:txBody>
          <a:bodyPr wrap="square" lIns="0" rIns="0" tIns="0" bIns="0" anchor="t">
            <a:spAutoFit/>
          </a:bodyPr>
          <a:lstStyle/>
          <a:p>
            <a:pPr algn="l">
              <a:lnSpc>
                <a:spcPct val="105000"/>
              </a:lnSpc>
            </a:pPr>
            <a:r>
              <a:rPr sz="1800" b="0" i="0">
                <a:solidFill>
                  <a:srgbClr val="0E2D69"/>
                </a:solidFill>
                <a:latin typeface="Arial"/>
              </a:rPr>
              <a:t>Illiquid stocks earn a premium.</a:t>
            </a:r>
          </a:p>
          <a:p>
            <a:pPr algn="l">
              <a:lnSpc>
                <a:spcPct val="105000"/>
              </a:lnSpc>
            </a:pPr>
            <a:r>
              <a:rPr sz="1800" b="0" i="0">
                <a:solidFill>
                  <a:srgbClr val="0E2D69"/>
                </a:solidFill>
                <a:latin typeface="Arial"/>
              </a:rPr>
              <a:t>Is it for price impact, or just for low volume?</a:t>
            </a:r>
          </a:p>
        </p:txBody>
      </p:sp>
      <p:pic>
        <p:nvPicPr>
          <p:cNvPr id="7" name="Picture 6" descr="amihud.png"/>
          <p:cNvPicPr>
            <a:picLocks noChangeAspect="1"/>
          </p:cNvPicPr>
          <p:nvPr/>
        </p:nvPicPr>
        <p:blipFill>
          <a:blip r:embed="rId4"/>
          <a:stretch>
            <a:fillRect/>
          </a:stretch>
        </p:blipFill>
        <p:spPr>
          <a:xfrm>
            <a:off x="429768" y="2697480"/>
            <a:ext cx="1980590" cy="752856"/>
          </a:xfrm>
          <a:prstGeom prst="rect">
            <a:avLst/>
          </a:prstGeom>
        </p:spPr>
      </p:pic>
      <p:sp>
        <p:nvSpPr>
          <p:cNvPr id="8" name="TextBox 7"/>
          <p:cNvSpPr txBox="1"/>
          <p:nvPr/>
        </p:nvSpPr>
        <p:spPr>
          <a:xfrm>
            <a:off x="5166360" y="1234440"/>
            <a:ext cx="1554480" cy="22860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Standard reading</a:t>
            </a:r>
          </a:p>
        </p:txBody>
      </p:sp>
      <p:sp>
        <p:nvSpPr>
          <p:cNvPr id="9" name="Rounded Rectangle 8"/>
          <p:cNvSpPr/>
          <p:nvPr/>
        </p:nvSpPr>
        <p:spPr>
          <a:xfrm>
            <a:off x="5212080" y="1554480"/>
            <a:ext cx="1463040" cy="47548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Amihud A</a:t>
            </a:r>
          </a:p>
        </p:txBody>
      </p:sp>
      <p:sp>
        <p:nvSpPr>
          <p:cNvPr id="10" name="Isosceles Triangle 9"/>
          <p:cNvSpPr/>
          <p:nvPr/>
        </p:nvSpPr>
        <p:spPr>
          <a:xfrm rot="10800000">
            <a:off x="5824728" y="2103120"/>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212080" y="2350008"/>
            <a:ext cx="1463040" cy="475488"/>
          </a:xfrm>
          <a:prstGeom prst="roundRect">
            <a:avLst>
              <a:gd name="adj" fmla="val 12000"/>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price impact</a:t>
            </a:r>
          </a:p>
        </p:txBody>
      </p:sp>
      <p:sp>
        <p:nvSpPr>
          <p:cNvPr id="12" name="Isosceles Triangle 11"/>
          <p:cNvSpPr/>
          <p:nvPr/>
        </p:nvSpPr>
        <p:spPr>
          <a:xfrm rot="10800000">
            <a:off x="5824728" y="2898648"/>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12080" y="3145536"/>
            <a:ext cx="1463040" cy="47548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illiquidity</a:t>
            </a:r>
          </a:p>
          <a:p>
            <a:pPr algn="ctr"/>
            <a:r>
              <a:rPr sz="1200" b="0" i="0">
                <a:solidFill>
                  <a:srgbClr val="0E2D69"/>
                </a:solidFill>
                <a:latin typeface="Arial"/>
              </a:rPr>
              <a:t>premium</a:t>
            </a:r>
          </a:p>
        </p:txBody>
      </p:sp>
      <p:sp>
        <p:nvSpPr>
          <p:cNvPr id="14" name="TextBox 13"/>
          <p:cNvSpPr txBox="1"/>
          <p:nvPr/>
        </p:nvSpPr>
        <p:spPr>
          <a:xfrm>
            <a:off x="6812280" y="1234440"/>
            <a:ext cx="1554480" cy="22860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Lou &amp; Shu</a:t>
            </a:r>
          </a:p>
        </p:txBody>
      </p:sp>
      <p:sp>
        <p:nvSpPr>
          <p:cNvPr id="15" name="Rounded Rectangle 14"/>
          <p:cNvSpPr/>
          <p:nvPr/>
        </p:nvSpPr>
        <p:spPr>
          <a:xfrm>
            <a:off x="6858000" y="1554480"/>
            <a:ext cx="1463040" cy="47548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Amihud A</a:t>
            </a:r>
          </a:p>
        </p:txBody>
      </p:sp>
      <p:sp>
        <p:nvSpPr>
          <p:cNvPr id="16" name="Isosceles Triangle 15"/>
          <p:cNvSpPr/>
          <p:nvPr/>
        </p:nvSpPr>
        <p:spPr>
          <a:xfrm rot="10800000">
            <a:off x="7470648" y="2103120"/>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0" y="2350008"/>
            <a:ext cx="1463040" cy="475488"/>
          </a:xfrm>
          <a:prstGeom prst="roundRect">
            <a:avLst>
              <a:gd name="adj" fmla="val 12000"/>
            </a:avLst>
          </a:prstGeom>
          <a:solidFill>
            <a:srgbClr val="71A3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trading volume</a:t>
            </a:r>
          </a:p>
        </p:txBody>
      </p:sp>
      <p:sp>
        <p:nvSpPr>
          <p:cNvPr id="18" name="Isosceles Triangle 17"/>
          <p:cNvSpPr/>
          <p:nvPr/>
        </p:nvSpPr>
        <p:spPr>
          <a:xfrm rot="10800000">
            <a:off x="7470648" y="2898648"/>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58000" y="3145536"/>
            <a:ext cx="1463040" cy="47548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low-volume</a:t>
            </a:r>
          </a:p>
          <a:p>
            <a:pPr algn="ctr"/>
            <a:r>
              <a:rPr sz="1200" b="0" i="0">
                <a:solidFill>
                  <a:srgbClr val="0E2D69"/>
                </a:solidFill>
                <a:latin typeface="Arial"/>
              </a:rPr>
              <a:t>premium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3</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Amihud is almost only volume</a:t>
            </a:r>
          </a:p>
        </p:txBody>
      </p:sp>
      <p:sp>
        <p:nvSpPr>
          <p:cNvPr id="6" name="TextBox 5"/>
          <p:cNvSpPr txBox="1"/>
          <p:nvPr/>
        </p:nvSpPr>
        <p:spPr>
          <a:xfrm>
            <a:off x="731520" y="1737360"/>
            <a:ext cx="3474720" cy="822959"/>
          </a:xfrm>
          <a:prstGeom prst="rect">
            <a:avLst/>
          </a:prstGeom>
          <a:noFill/>
        </p:spPr>
        <p:txBody>
          <a:bodyPr wrap="square" lIns="0" rIns="0" tIns="0" bIns="0" anchor="t">
            <a:spAutoFit/>
          </a:bodyPr>
          <a:lstStyle/>
          <a:p>
            <a:pPr algn="ctr">
              <a:lnSpc>
                <a:spcPct val="100000"/>
              </a:lnSpc>
            </a:pPr>
            <a:r>
              <a:rPr sz="5400" b="0" i="0">
                <a:solidFill>
                  <a:srgbClr val="0E2D69"/>
                </a:solidFill>
                <a:latin typeface="Arial"/>
              </a:rPr>
              <a:t>0.899</a:t>
            </a:r>
          </a:p>
        </p:txBody>
      </p:sp>
      <p:sp>
        <p:nvSpPr>
          <p:cNvPr id="7" name="TextBox 6"/>
          <p:cNvSpPr txBox="1"/>
          <p:nvPr/>
        </p:nvSpPr>
        <p:spPr>
          <a:xfrm>
            <a:off x="731520" y="2606039"/>
            <a:ext cx="347472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corr(A, A</a:t>
            </a:r>
            <a:r>
              <a:rPr sz="1200" b="0" i="0" baseline="-25000">
                <a:solidFill>
                  <a:srgbClr val="0E2D69"/>
                </a:solidFill>
                <a:latin typeface="Arial"/>
              </a:rPr>
              <a:t>C</a:t>
            </a:r>
            <a:r>
              <a:rPr sz="1200" b="0" i="0">
                <a:solidFill>
                  <a:srgbClr val="0E2D69"/>
                </a:solidFill>
                <a:latin typeface="Arial"/>
              </a:rPr>
              <a:t>) · US stocks, paper</a:t>
            </a:r>
          </a:p>
        </p:txBody>
      </p:sp>
      <p:sp>
        <p:nvSpPr>
          <p:cNvPr id="8" name="TextBox 7"/>
          <p:cNvSpPr txBox="1"/>
          <p:nvPr/>
        </p:nvSpPr>
        <p:spPr>
          <a:xfrm>
            <a:off x="4937760" y="1737360"/>
            <a:ext cx="3474720" cy="822959"/>
          </a:xfrm>
          <a:prstGeom prst="rect">
            <a:avLst/>
          </a:prstGeom>
          <a:noFill/>
        </p:spPr>
        <p:txBody>
          <a:bodyPr wrap="square" lIns="0" rIns="0" tIns="0" bIns="0" anchor="t">
            <a:spAutoFit/>
          </a:bodyPr>
          <a:lstStyle/>
          <a:p>
            <a:pPr algn="ctr">
              <a:lnSpc>
                <a:spcPct val="100000"/>
              </a:lnSpc>
            </a:pPr>
            <a:r>
              <a:rPr sz="5400" b="0" i="0">
                <a:solidFill>
                  <a:srgbClr val="0E2D69"/>
                </a:solidFill>
                <a:latin typeface="Arial"/>
              </a:rPr>
              <a:t>0.956</a:t>
            </a:r>
          </a:p>
        </p:txBody>
      </p:sp>
      <p:sp>
        <p:nvSpPr>
          <p:cNvPr id="9" name="TextBox 8"/>
          <p:cNvSpPr txBox="1"/>
          <p:nvPr/>
        </p:nvSpPr>
        <p:spPr>
          <a:xfrm>
            <a:off x="4937760" y="2606039"/>
            <a:ext cx="347472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corr(A, A</a:t>
            </a:r>
            <a:r>
              <a:rPr sz="1200" b="0" i="0" baseline="-25000">
                <a:solidFill>
                  <a:srgbClr val="0E2D69"/>
                </a:solidFill>
                <a:latin typeface="Arial"/>
              </a:rPr>
              <a:t>C</a:t>
            </a:r>
            <a:r>
              <a:rPr sz="1200" b="0" i="0">
                <a:solidFill>
                  <a:srgbClr val="0E2D69"/>
                </a:solidFill>
                <a:latin typeface="Arial"/>
              </a:rPr>
              <a:t>) · Binance, us</a:t>
            </a:r>
          </a:p>
        </p:txBody>
      </p:sp>
      <p:sp>
        <p:nvSpPr>
          <p:cNvPr id="10" name="TextBox 9"/>
          <p:cNvSpPr txBox="1"/>
          <p:nvPr/>
        </p:nvSpPr>
        <p:spPr>
          <a:xfrm>
            <a:off x="429768" y="379476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A</a:t>
            </a:r>
            <a:r>
              <a:rPr sz="1800" b="0" i="0" baseline="-25000">
                <a:solidFill>
                  <a:srgbClr val="0E2D69"/>
                </a:solidFill>
                <a:latin typeface="Arial"/>
              </a:rPr>
              <a:t>C</a:t>
            </a:r>
            <a:r>
              <a:rPr sz="1800" b="0" i="0">
                <a:solidFill>
                  <a:srgbClr val="0E2D69"/>
                </a:solidFill>
                <a:latin typeface="Arial"/>
              </a:rPr>
              <a:t> keeps only 1/DVol, and it explains almost all of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4</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Method: split Amihud in two</a:t>
            </a:r>
          </a:p>
        </p:txBody>
      </p:sp>
      <p:pic>
        <p:nvPicPr>
          <p:cNvPr id="6" name="Picture 5" descr="split.png"/>
          <p:cNvPicPr>
            <a:picLocks noChangeAspect="1"/>
          </p:cNvPicPr>
          <p:nvPr/>
        </p:nvPicPr>
        <p:blipFill>
          <a:blip r:embed="rId4"/>
          <a:stretch>
            <a:fillRect/>
          </a:stretch>
        </p:blipFill>
        <p:spPr>
          <a:xfrm>
            <a:off x="429768" y="1847088"/>
            <a:ext cx="3675888" cy="326957"/>
          </a:xfrm>
          <a:prstGeom prst="rect">
            <a:avLst/>
          </a:prstGeom>
        </p:spPr>
      </p:pic>
      <p:sp>
        <p:nvSpPr>
          <p:cNvPr id="7" name="TextBox 6"/>
          <p:cNvSpPr txBox="1"/>
          <p:nvPr/>
        </p:nvSpPr>
        <p:spPr>
          <a:xfrm>
            <a:off x="429768" y="2514600"/>
            <a:ext cx="3657600" cy="914400"/>
          </a:xfrm>
          <a:prstGeom prst="rect">
            <a:avLst/>
          </a:prstGeom>
          <a:noFill/>
        </p:spPr>
        <p:txBody>
          <a:bodyPr wrap="square" lIns="0" rIns="0" tIns="0" bIns="0" anchor="t">
            <a:spAutoFit/>
          </a:bodyPr>
          <a:lstStyle/>
          <a:p>
            <a:pPr algn="l">
              <a:lnSpc>
                <a:spcPct val="105000"/>
              </a:lnSpc>
            </a:pPr>
            <a:r>
              <a:rPr sz="1800" b="0" i="0">
                <a:solidFill>
                  <a:srgbClr val="0E2D69"/>
                </a:solidFill>
                <a:latin typeface="Arial"/>
              </a:rPr>
              <a:t>If only the volume part is priced, the premium is about volume.</a:t>
            </a:r>
          </a:p>
        </p:txBody>
      </p:sp>
      <p:sp>
        <p:nvSpPr>
          <p:cNvPr id="8" name="Rounded Rectangle 7"/>
          <p:cNvSpPr/>
          <p:nvPr/>
        </p:nvSpPr>
        <p:spPr>
          <a:xfrm>
            <a:off x="5120640" y="1417320"/>
            <a:ext cx="3108960" cy="457200"/>
          </a:xfrm>
          <a:prstGeom prst="roundRect">
            <a:avLst>
              <a:gd name="adj" fmla="val 12000"/>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FFFFFF"/>
                </a:solidFill>
                <a:latin typeface="Arial"/>
              </a:rPr>
              <a:t>ln A</a:t>
            </a:r>
          </a:p>
        </p:txBody>
      </p:sp>
      <p:sp>
        <p:nvSpPr>
          <p:cNvPr id="9" name="Isosceles Triangle 8"/>
          <p:cNvSpPr/>
          <p:nvPr/>
        </p:nvSpPr>
        <p:spPr>
          <a:xfrm rot="10800000">
            <a:off x="6556248" y="1938528"/>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20640" y="2194560"/>
            <a:ext cx="1463040" cy="548640"/>
          </a:xfrm>
          <a:prstGeom prst="roundRect">
            <a:avLst>
              <a:gd name="adj" fmla="val 12000"/>
            </a:avLst>
          </a:prstGeom>
          <a:solidFill>
            <a:srgbClr val="71A3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ln A</a:t>
            </a:r>
            <a:r>
              <a:rPr sz="1200" b="0" i="0" baseline="-25000">
                <a:solidFill>
                  <a:srgbClr val="0E2D69"/>
                </a:solidFill>
                <a:latin typeface="Arial"/>
              </a:rPr>
              <a:t>C</a:t>
            </a:r>
          </a:p>
          <a:p>
            <a:pPr algn="ctr"/>
            <a:r>
              <a:rPr sz="1200" b="0" i="0">
                <a:solidFill>
                  <a:srgbClr val="0E2D69"/>
                </a:solidFill>
                <a:latin typeface="Arial"/>
              </a:rPr>
              <a:t>volume</a:t>
            </a:r>
          </a:p>
        </p:txBody>
      </p:sp>
      <p:sp>
        <p:nvSpPr>
          <p:cNvPr id="11" name="Isosceles Triangle 10"/>
          <p:cNvSpPr/>
          <p:nvPr/>
        </p:nvSpPr>
        <p:spPr>
          <a:xfrm rot="10800000">
            <a:off x="5733288" y="2816352"/>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3063240"/>
            <a:ext cx="1463040" cy="548640"/>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priced?</a:t>
            </a:r>
          </a:p>
          <a:p>
            <a:pPr algn="ctr"/>
            <a:r>
              <a:rPr sz="1200" b="0" i="0">
                <a:solidFill>
                  <a:srgbClr val="0E2D69"/>
                </a:solidFill>
                <a:latin typeface="Arial"/>
              </a:rPr>
              <a:t>“volume”</a:t>
            </a:r>
          </a:p>
        </p:txBody>
      </p:sp>
      <p:sp>
        <p:nvSpPr>
          <p:cNvPr id="13" name="Rounded Rectangle 12"/>
          <p:cNvSpPr/>
          <p:nvPr/>
        </p:nvSpPr>
        <p:spPr>
          <a:xfrm>
            <a:off x="6766559" y="2194560"/>
            <a:ext cx="1463040" cy="548640"/>
          </a:xfrm>
          <a:prstGeom prst="roundRect">
            <a:avLst>
              <a:gd name="adj" fmla="val 12000"/>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Res.ln A</a:t>
            </a:r>
          </a:p>
          <a:p>
            <a:pPr algn="ctr"/>
            <a:r>
              <a:rPr sz="1200" b="0" i="0">
                <a:solidFill>
                  <a:srgbClr val="0E2D69"/>
                </a:solidFill>
                <a:latin typeface="Arial"/>
              </a:rPr>
              <a:t>price impact</a:t>
            </a:r>
          </a:p>
        </p:txBody>
      </p:sp>
      <p:sp>
        <p:nvSpPr>
          <p:cNvPr id="14" name="Isosceles Triangle 13"/>
          <p:cNvSpPr/>
          <p:nvPr/>
        </p:nvSpPr>
        <p:spPr>
          <a:xfrm rot="10800000">
            <a:off x="7379207" y="2816352"/>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59" y="3063240"/>
            <a:ext cx="1463040" cy="548640"/>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priced?</a:t>
            </a:r>
          </a:p>
          <a:p>
            <a:pPr algn="ctr"/>
            <a:r>
              <a:rPr sz="1200" b="0" i="0">
                <a:solidFill>
                  <a:srgbClr val="0E2D69"/>
                </a:solidFill>
                <a:latin typeface="Arial"/>
              </a:rPr>
              <a:t>“price impact”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5</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Test design</a:t>
            </a:r>
          </a:p>
        </p:txBody>
      </p:sp>
      <p:sp>
        <p:nvSpPr>
          <p:cNvPr id="6" name="Rectangle 5"/>
          <p:cNvSpPr/>
          <p:nvPr/>
        </p:nvSpPr>
        <p:spPr>
          <a:xfrm>
            <a:off x="429768" y="1600200"/>
            <a:ext cx="2651760" cy="91440"/>
          </a:xfrm>
          <a:prstGeom prst="rect">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783080"/>
            <a:ext cx="2651760" cy="54864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month t − 2</a:t>
            </a:r>
          </a:p>
          <a:p>
            <a:pPr algn="ctr">
              <a:lnSpc>
                <a:spcPct val="100000"/>
              </a:lnSpc>
            </a:pPr>
            <a:r>
              <a:rPr sz="1600" b="0" i="0">
                <a:solidFill>
                  <a:srgbClr val="0E2D69"/>
                </a:solidFill>
                <a:latin typeface="Arial"/>
              </a:rPr>
              <a:t>MEASURE</a:t>
            </a:r>
          </a:p>
        </p:txBody>
      </p:sp>
      <p:sp>
        <p:nvSpPr>
          <p:cNvPr id="8" name="Rectangle 7"/>
          <p:cNvSpPr/>
          <p:nvPr/>
        </p:nvSpPr>
        <p:spPr>
          <a:xfrm>
            <a:off x="3246120" y="1600200"/>
            <a:ext cx="2651760" cy="91440"/>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1783080"/>
            <a:ext cx="2651760" cy="54864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month t − 1</a:t>
            </a:r>
          </a:p>
          <a:p>
            <a:pPr algn="ctr">
              <a:lnSpc>
                <a:spcPct val="100000"/>
              </a:lnSpc>
            </a:pPr>
            <a:r>
              <a:rPr sz="1600" b="0" i="0">
                <a:solidFill>
                  <a:srgbClr val="0E2D69"/>
                </a:solidFill>
                <a:latin typeface="Arial"/>
              </a:rPr>
              <a:t>SKIP</a:t>
            </a:r>
          </a:p>
        </p:txBody>
      </p:sp>
      <p:sp>
        <p:nvSpPr>
          <p:cNvPr id="10" name="Rectangle 9"/>
          <p:cNvSpPr/>
          <p:nvPr/>
        </p:nvSpPr>
        <p:spPr>
          <a:xfrm>
            <a:off x="6062472" y="1600200"/>
            <a:ext cx="2651760" cy="91440"/>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62472" y="1783080"/>
            <a:ext cx="2651760" cy="54864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month t</a:t>
            </a:r>
          </a:p>
          <a:p>
            <a:pPr algn="ctr">
              <a:lnSpc>
                <a:spcPct val="100000"/>
              </a:lnSpc>
            </a:pPr>
            <a:r>
              <a:rPr sz="1600" b="0" i="0">
                <a:solidFill>
                  <a:srgbClr val="0E2D69"/>
                </a:solidFill>
                <a:latin typeface="Arial"/>
              </a:rPr>
              <a:t>RETURN</a:t>
            </a:r>
          </a:p>
        </p:txBody>
      </p:sp>
      <p:pic>
        <p:nvPicPr>
          <p:cNvPr id="12" name="Picture 11" descr="fm.png"/>
          <p:cNvPicPr>
            <a:picLocks noChangeAspect="1"/>
          </p:cNvPicPr>
          <p:nvPr/>
        </p:nvPicPr>
        <p:blipFill>
          <a:blip r:embed="rId4"/>
          <a:stretch>
            <a:fillRect/>
          </a:stretch>
        </p:blipFill>
        <p:spPr>
          <a:xfrm>
            <a:off x="2630729" y="2697480"/>
            <a:ext cx="3882542" cy="333203"/>
          </a:xfrm>
          <a:prstGeom prst="rect">
            <a:avLst/>
          </a:prstGeom>
        </p:spPr>
      </p:pic>
      <p:sp>
        <p:nvSpPr>
          <p:cNvPr id="13" name="TextBox 12"/>
          <p:cNvSpPr txBox="1"/>
          <p:nvPr/>
        </p:nvSpPr>
        <p:spPr>
          <a:xfrm>
            <a:off x="429768" y="384048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Quintile sorts and Fama–MacBeth, as in the paper.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6</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The paper's result</a:t>
            </a:r>
          </a:p>
        </p:txBody>
      </p:sp>
      <p:sp>
        <p:nvSpPr>
          <p:cNvPr id="6" name="Rounded Rectangle 5"/>
          <p:cNvSpPr/>
          <p:nvPr/>
        </p:nvSpPr>
        <p:spPr>
          <a:xfrm>
            <a:off x="1143000" y="1737360"/>
            <a:ext cx="1463040" cy="38404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H-L on A</a:t>
            </a:r>
          </a:p>
        </p:txBody>
      </p:sp>
      <p:sp>
        <p:nvSpPr>
          <p:cNvPr id="7" name="TextBox 6"/>
          <p:cNvSpPr txBox="1"/>
          <p:nvPr/>
        </p:nvSpPr>
        <p:spPr>
          <a:xfrm>
            <a:off x="548640" y="2484120"/>
            <a:ext cx="2651760" cy="396240"/>
          </a:xfrm>
          <a:prstGeom prst="rect">
            <a:avLst/>
          </a:prstGeom>
          <a:noFill/>
        </p:spPr>
        <p:txBody>
          <a:bodyPr wrap="square" lIns="0" rIns="0" tIns="0" bIns="0" anchor="t">
            <a:spAutoFit/>
          </a:bodyPr>
          <a:lstStyle/>
          <a:p>
            <a:pPr algn="ctr">
              <a:lnSpc>
                <a:spcPct val="100000"/>
              </a:lnSpc>
            </a:pPr>
            <a:r>
              <a:rPr sz="2600" b="0" i="0">
                <a:solidFill>
                  <a:srgbClr val="0E2D69"/>
                </a:solidFill>
                <a:latin typeface="Arial"/>
              </a:rPr>
              <a:t>0.56 (t 2.36)</a:t>
            </a:r>
          </a:p>
        </p:txBody>
      </p:sp>
      <p:sp>
        <p:nvSpPr>
          <p:cNvPr id="8" name="TextBox 7"/>
          <p:cNvSpPr txBox="1"/>
          <p:nvPr/>
        </p:nvSpPr>
        <p:spPr>
          <a:xfrm>
            <a:off x="548640" y="292608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 per month</a:t>
            </a:r>
          </a:p>
        </p:txBody>
      </p:sp>
      <p:sp>
        <p:nvSpPr>
          <p:cNvPr id="9" name="Rounded Rectangle 8"/>
          <p:cNvSpPr/>
          <p:nvPr/>
        </p:nvSpPr>
        <p:spPr>
          <a:xfrm>
            <a:off x="3886200" y="1737360"/>
            <a:ext cx="1463040" cy="384048"/>
          </a:xfrm>
          <a:prstGeom prst="roundRect">
            <a:avLst>
              <a:gd name="adj" fmla="val 12000"/>
            </a:avLst>
          </a:prstGeom>
          <a:solidFill>
            <a:srgbClr val="71A3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H-L on A</a:t>
            </a:r>
            <a:r>
              <a:rPr sz="1200" b="0" i="0" baseline="-25000">
                <a:solidFill>
                  <a:srgbClr val="0E2D69"/>
                </a:solidFill>
                <a:latin typeface="Arial"/>
              </a:rPr>
              <a:t>C</a:t>
            </a:r>
          </a:p>
        </p:txBody>
      </p:sp>
      <p:sp>
        <p:nvSpPr>
          <p:cNvPr id="10" name="TextBox 9"/>
          <p:cNvSpPr txBox="1"/>
          <p:nvPr/>
        </p:nvSpPr>
        <p:spPr>
          <a:xfrm>
            <a:off x="3291840" y="2484120"/>
            <a:ext cx="2651760" cy="396240"/>
          </a:xfrm>
          <a:prstGeom prst="rect">
            <a:avLst/>
          </a:prstGeom>
          <a:noFill/>
        </p:spPr>
        <p:txBody>
          <a:bodyPr wrap="square" lIns="0" rIns="0" tIns="0" bIns="0" anchor="t">
            <a:spAutoFit/>
          </a:bodyPr>
          <a:lstStyle/>
          <a:p>
            <a:pPr algn="ctr">
              <a:lnSpc>
                <a:spcPct val="100000"/>
              </a:lnSpc>
            </a:pPr>
            <a:r>
              <a:rPr sz="2600" b="0" i="0">
                <a:solidFill>
                  <a:srgbClr val="0E2D69"/>
                </a:solidFill>
                <a:latin typeface="Arial"/>
              </a:rPr>
              <a:t>0.61 (t 2.95)</a:t>
            </a:r>
          </a:p>
        </p:txBody>
      </p:sp>
      <p:sp>
        <p:nvSpPr>
          <p:cNvPr id="11" name="TextBox 10"/>
          <p:cNvSpPr txBox="1"/>
          <p:nvPr/>
        </p:nvSpPr>
        <p:spPr>
          <a:xfrm>
            <a:off x="3291840" y="292608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 per month</a:t>
            </a:r>
          </a:p>
        </p:txBody>
      </p:sp>
      <p:sp>
        <p:nvSpPr>
          <p:cNvPr id="12" name="Rounded Rectangle 11"/>
          <p:cNvSpPr/>
          <p:nvPr/>
        </p:nvSpPr>
        <p:spPr>
          <a:xfrm>
            <a:off x="6629400" y="1737360"/>
            <a:ext cx="1463040" cy="384048"/>
          </a:xfrm>
          <a:prstGeom prst="roundRect">
            <a:avLst>
              <a:gd name="adj" fmla="val 12000"/>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H-L on Res.A</a:t>
            </a:r>
          </a:p>
        </p:txBody>
      </p:sp>
      <p:sp>
        <p:nvSpPr>
          <p:cNvPr id="13" name="TextBox 12"/>
          <p:cNvSpPr txBox="1"/>
          <p:nvPr/>
        </p:nvSpPr>
        <p:spPr>
          <a:xfrm>
            <a:off x="6035040" y="2484120"/>
            <a:ext cx="2651760" cy="396240"/>
          </a:xfrm>
          <a:prstGeom prst="rect">
            <a:avLst/>
          </a:prstGeom>
          <a:noFill/>
        </p:spPr>
        <p:txBody>
          <a:bodyPr wrap="square" lIns="0" rIns="0" tIns="0" bIns="0" anchor="t">
            <a:spAutoFit/>
          </a:bodyPr>
          <a:lstStyle/>
          <a:p>
            <a:pPr algn="ctr">
              <a:lnSpc>
                <a:spcPct val="100000"/>
              </a:lnSpc>
            </a:pPr>
            <a:r>
              <a:rPr sz="2600" b="0" i="0">
                <a:solidFill>
                  <a:srgbClr val="0E2D69"/>
                </a:solidFill>
                <a:latin typeface="Arial"/>
              </a:rPr>
              <a:t>−0.17 (t −1.05)</a:t>
            </a:r>
          </a:p>
        </p:txBody>
      </p:sp>
      <p:sp>
        <p:nvSpPr>
          <p:cNvPr id="14" name="TextBox 13"/>
          <p:cNvSpPr txBox="1"/>
          <p:nvPr/>
        </p:nvSpPr>
        <p:spPr>
          <a:xfrm>
            <a:off x="6035040" y="292608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 per month</a:t>
            </a:r>
          </a:p>
        </p:txBody>
      </p:sp>
      <p:sp>
        <p:nvSpPr>
          <p:cNvPr id="15" name="TextBox 14"/>
          <p:cNvSpPr txBox="1"/>
          <p:nvPr/>
        </p:nvSpPr>
        <p:spPr>
          <a:xfrm>
            <a:off x="429768" y="388620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Volume is priced, the rest is not: the premium is not for price impact.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7</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First, simulations</a:t>
            </a:r>
          </a:p>
        </p:txBody>
      </p:sp>
      <p:sp>
        <p:nvSpPr>
          <p:cNvPr id="6" name="Rounded Rectangle 5"/>
          <p:cNvSpPr/>
          <p:nvPr/>
        </p:nvSpPr>
        <p:spPr>
          <a:xfrm>
            <a:off x="868680" y="1691640"/>
            <a:ext cx="2011680" cy="502920"/>
          </a:xfrm>
          <a:prstGeom prst="roundRect">
            <a:avLst>
              <a:gd name="adj" fmla="val 12000"/>
            </a:avLst>
          </a:prstGeom>
          <a:solidFill>
            <a:srgbClr val="71A3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World V</a:t>
            </a:r>
          </a:p>
          <a:p>
            <a:pPr algn="ctr"/>
            <a:r>
              <a:rPr sz="1200" b="0" i="0">
                <a:solidFill>
                  <a:srgbClr val="0E2D69"/>
                </a:solidFill>
                <a:latin typeface="Arial"/>
              </a:rPr>
              <a:t>volume is priced</a:t>
            </a:r>
          </a:p>
        </p:txBody>
      </p:sp>
      <p:sp>
        <p:nvSpPr>
          <p:cNvPr id="7" name="TextBox 6"/>
          <p:cNvSpPr txBox="1"/>
          <p:nvPr/>
        </p:nvSpPr>
        <p:spPr>
          <a:xfrm>
            <a:off x="548640" y="2529840"/>
            <a:ext cx="2651760" cy="670560"/>
          </a:xfrm>
          <a:prstGeom prst="rect">
            <a:avLst/>
          </a:prstGeom>
          <a:noFill/>
        </p:spPr>
        <p:txBody>
          <a:bodyPr wrap="square" lIns="0" rIns="0" tIns="0" bIns="0" anchor="t">
            <a:spAutoFit/>
          </a:bodyPr>
          <a:lstStyle/>
          <a:p>
            <a:pPr algn="ctr">
              <a:lnSpc>
                <a:spcPct val="100000"/>
              </a:lnSpc>
            </a:pPr>
            <a:r>
              <a:rPr sz="4400" b="0" i="0">
                <a:solidFill>
                  <a:srgbClr val="0E2D69"/>
                </a:solidFill>
                <a:latin typeface="Arial"/>
              </a:rPr>
              <a:t>100%</a:t>
            </a:r>
          </a:p>
        </p:txBody>
      </p:sp>
      <p:sp>
        <p:nvSpPr>
          <p:cNvPr id="8" name="TextBox 7"/>
          <p:cNvSpPr txBox="1"/>
          <p:nvPr/>
        </p:nvSpPr>
        <p:spPr>
          <a:xfrm>
            <a:off x="548640" y="324612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runs find A</a:t>
            </a:r>
            <a:r>
              <a:rPr sz="1200" b="0" i="0" baseline="-25000">
                <a:solidFill>
                  <a:srgbClr val="0E2D69"/>
                </a:solidFill>
                <a:latin typeface="Arial"/>
              </a:rPr>
              <a:t>C</a:t>
            </a:r>
            <a:r>
              <a:rPr sz="1200" b="0" i="0">
                <a:solidFill>
                  <a:srgbClr val="0E2D69"/>
                </a:solidFill>
                <a:latin typeface="Arial"/>
              </a:rPr>
              <a:t> priced</a:t>
            </a:r>
          </a:p>
        </p:txBody>
      </p:sp>
      <p:sp>
        <p:nvSpPr>
          <p:cNvPr id="9" name="Rounded Rectangle 8"/>
          <p:cNvSpPr/>
          <p:nvPr/>
        </p:nvSpPr>
        <p:spPr>
          <a:xfrm>
            <a:off x="3611880" y="1691640"/>
            <a:ext cx="2011680" cy="502920"/>
          </a:xfrm>
          <a:prstGeom prst="roundRect">
            <a:avLst>
              <a:gd name="adj" fmla="val 12000"/>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World P</a:t>
            </a:r>
          </a:p>
          <a:p>
            <a:pPr algn="ctr"/>
            <a:r>
              <a:rPr sz="1200" b="0" i="0">
                <a:solidFill>
                  <a:srgbClr val="0E2D69"/>
                </a:solidFill>
                <a:latin typeface="Arial"/>
              </a:rPr>
              <a:t>price impact is priced</a:t>
            </a:r>
          </a:p>
        </p:txBody>
      </p:sp>
      <p:sp>
        <p:nvSpPr>
          <p:cNvPr id="10" name="TextBox 9"/>
          <p:cNvSpPr txBox="1"/>
          <p:nvPr/>
        </p:nvSpPr>
        <p:spPr>
          <a:xfrm>
            <a:off x="3291840" y="2529840"/>
            <a:ext cx="2651760" cy="670560"/>
          </a:xfrm>
          <a:prstGeom prst="rect">
            <a:avLst/>
          </a:prstGeom>
          <a:noFill/>
        </p:spPr>
        <p:txBody>
          <a:bodyPr wrap="square" lIns="0" rIns="0" tIns="0" bIns="0" anchor="t">
            <a:spAutoFit/>
          </a:bodyPr>
          <a:lstStyle/>
          <a:p>
            <a:pPr algn="ctr">
              <a:lnSpc>
                <a:spcPct val="100000"/>
              </a:lnSpc>
            </a:pPr>
            <a:r>
              <a:rPr sz="4400" b="0" i="0">
                <a:solidFill>
                  <a:srgbClr val="0E2D69"/>
                </a:solidFill>
                <a:latin typeface="Arial"/>
              </a:rPr>
              <a:t>100%</a:t>
            </a:r>
          </a:p>
        </p:txBody>
      </p:sp>
      <p:sp>
        <p:nvSpPr>
          <p:cNvPr id="11" name="TextBox 10"/>
          <p:cNvSpPr txBox="1"/>
          <p:nvPr/>
        </p:nvSpPr>
        <p:spPr>
          <a:xfrm>
            <a:off x="3291840" y="324612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runs find Res.ln A priced</a:t>
            </a:r>
          </a:p>
        </p:txBody>
      </p:sp>
      <p:sp>
        <p:nvSpPr>
          <p:cNvPr id="12" name="Rounded Rectangle 11"/>
          <p:cNvSpPr/>
          <p:nvPr/>
        </p:nvSpPr>
        <p:spPr>
          <a:xfrm>
            <a:off x="6355079" y="1691640"/>
            <a:ext cx="2011680" cy="502920"/>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World 0</a:t>
            </a:r>
          </a:p>
          <a:p>
            <a:pPr algn="ctr"/>
            <a:r>
              <a:rPr sz="1200" b="0" i="0">
                <a:solidFill>
                  <a:srgbClr val="0E2D69"/>
                </a:solidFill>
                <a:latin typeface="Arial"/>
              </a:rPr>
              <a:t>nothing is priced</a:t>
            </a:r>
          </a:p>
        </p:txBody>
      </p:sp>
      <p:sp>
        <p:nvSpPr>
          <p:cNvPr id="13" name="TextBox 12"/>
          <p:cNvSpPr txBox="1"/>
          <p:nvPr/>
        </p:nvSpPr>
        <p:spPr>
          <a:xfrm>
            <a:off x="6035040" y="2529840"/>
            <a:ext cx="2651760" cy="670560"/>
          </a:xfrm>
          <a:prstGeom prst="rect">
            <a:avLst/>
          </a:prstGeom>
          <a:noFill/>
        </p:spPr>
        <p:txBody>
          <a:bodyPr wrap="square" lIns="0" rIns="0" tIns="0" bIns="0" anchor="t">
            <a:spAutoFit/>
          </a:bodyPr>
          <a:lstStyle/>
          <a:p>
            <a:pPr algn="ctr">
              <a:lnSpc>
                <a:spcPct val="100000"/>
              </a:lnSpc>
            </a:pPr>
            <a:r>
              <a:rPr sz="4400" b="0" i="0">
                <a:solidFill>
                  <a:srgbClr val="0E2D69"/>
                </a:solidFill>
                <a:latin typeface="Arial"/>
              </a:rPr>
              <a:t>9.5%</a:t>
            </a:r>
          </a:p>
        </p:txBody>
      </p:sp>
      <p:sp>
        <p:nvSpPr>
          <p:cNvPr id="14" name="TextBox 13"/>
          <p:cNvSpPr txBox="1"/>
          <p:nvPr/>
        </p:nvSpPr>
        <p:spPr>
          <a:xfrm>
            <a:off x="6035040" y="324612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false positives (target 5%)</a:t>
            </a:r>
          </a:p>
        </p:txBody>
      </p:sp>
      <p:sp>
        <p:nvSpPr>
          <p:cNvPr id="15" name="TextBox 14"/>
          <p:cNvSpPr txBox="1"/>
          <p:nvPr/>
        </p:nvSpPr>
        <p:spPr>
          <a:xfrm>
            <a:off x="429768" y="393192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The pipeline tells the hypotheses apart before we touch real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8</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Dataset overview</a:t>
            </a:r>
          </a:p>
        </p:txBody>
      </p:sp>
      <p:sp>
        <p:nvSpPr>
          <p:cNvPr id="6" name="Rectangle 5"/>
          <p:cNvSpPr/>
          <p:nvPr/>
        </p:nvSpPr>
        <p:spPr>
          <a:xfrm>
            <a:off x="5473716" y="1527048"/>
            <a:ext cx="3185651" cy="64008"/>
          </a:xfrm>
          <a:prstGeom prst="rect">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3716" y="1344168"/>
            <a:ext cx="3200400" cy="182880"/>
          </a:xfrm>
          <a:prstGeom prst="rect">
            <a:avLst/>
          </a:prstGeom>
          <a:noFill/>
        </p:spPr>
        <p:txBody>
          <a:bodyPr wrap="square" lIns="0" rIns="0" tIns="0" bIns="0" anchor="t">
            <a:spAutoFit/>
          </a:bodyPr>
          <a:lstStyle/>
          <a:p>
            <a:pPr algn="l">
              <a:lnSpc>
                <a:spcPct val="100000"/>
              </a:lnSpc>
            </a:pPr>
            <a:r>
              <a:rPr sz="900" b="0" i="0">
                <a:solidFill>
                  <a:srgbClr val="BF8378"/>
                </a:solidFill>
                <a:latin typeface="Arial"/>
              </a:rPr>
              <a:t>5-min λ window, 36 months</a:t>
            </a:r>
          </a:p>
        </p:txBody>
      </p:sp>
      <p:sp>
        <p:nvSpPr>
          <p:cNvPr id="8" name="Rectangle 7"/>
          <p:cNvSpPr/>
          <p:nvPr/>
        </p:nvSpPr>
        <p:spPr>
          <a:xfrm>
            <a:off x="429768" y="1709928"/>
            <a:ext cx="4070554" cy="91440"/>
          </a:xfrm>
          <a:prstGeom prst="rect">
            <a:avLst/>
          </a:prstGeom>
          <a:solidFill>
            <a:srgbClr val="A1B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00322" y="1709928"/>
            <a:ext cx="4159045" cy="91440"/>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19543" y="1527048"/>
            <a:ext cx="22860" cy="182880"/>
          </a:xfrm>
          <a:prstGeom prst="rect">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81876" y="1344168"/>
            <a:ext cx="1097280" cy="182880"/>
          </a:xfrm>
          <a:prstGeom prst="rect">
            <a:avLst/>
          </a:prstGeom>
          <a:noFill/>
        </p:spPr>
        <p:txBody>
          <a:bodyPr wrap="square" lIns="0" rIns="0" tIns="0" bIns="0" anchor="t">
            <a:spAutoFit/>
          </a:bodyPr>
          <a:lstStyle/>
          <a:p>
            <a:pPr algn="ctr">
              <a:lnSpc>
                <a:spcPct val="100000"/>
              </a:lnSpc>
            </a:pPr>
            <a:r>
              <a:rPr sz="900" b="0" i="0">
                <a:solidFill>
                  <a:srgbClr val="BF8378"/>
                </a:solidFill>
                <a:latin typeface="Arial"/>
              </a:rPr>
              <a:t>March 2021</a:t>
            </a:r>
          </a:p>
        </p:txBody>
      </p:sp>
      <p:sp>
        <p:nvSpPr>
          <p:cNvPr id="12" name="TextBox 11"/>
          <p:cNvSpPr txBox="1"/>
          <p:nvPr/>
        </p:nvSpPr>
        <p:spPr>
          <a:xfrm>
            <a:off x="429768" y="1874519"/>
            <a:ext cx="4070554" cy="457200"/>
          </a:xfrm>
          <a:prstGeom prst="rect">
            <a:avLst/>
          </a:prstGeom>
          <a:noFill/>
        </p:spPr>
        <p:txBody>
          <a:bodyPr wrap="square" lIns="0" rIns="0" tIns="0" bIns="0" anchor="t">
            <a:spAutoFit/>
          </a:bodyPr>
          <a:lstStyle/>
          <a:p>
            <a:pPr algn="ctr">
              <a:lnSpc>
                <a:spcPct val="100000"/>
              </a:lnSpc>
            </a:pPr>
            <a:r>
              <a:rPr sz="900" b="0" i="0">
                <a:solidFill>
                  <a:srgbClr val="0E2D69"/>
                </a:solidFill>
                <a:latin typeface="Arial"/>
              </a:rPr>
              <a:t>2019-01 – 2022-10</a:t>
            </a:r>
          </a:p>
          <a:p>
            <a:pPr algn="ctr">
              <a:lnSpc>
                <a:spcPct val="100000"/>
              </a:lnSpc>
            </a:pPr>
            <a:r>
              <a:rPr sz="1400" b="0" i="0">
                <a:solidFill>
                  <a:srgbClr val="0E2D69"/>
                </a:solidFill>
                <a:latin typeface="Arial"/>
              </a:rPr>
              <a:t>FIRST HALF</a:t>
            </a:r>
          </a:p>
        </p:txBody>
      </p:sp>
      <p:sp>
        <p:nvSpPr>
          <p:cNvPr id="13" name="TextBox 12"/>
          <p:cNvSpPr txBox="1"/>
          <p:nvPr/>
        </p:nvSpPr>
        <p:spPr>
          <a:xfrm>
            <a:off x="4500322" y="1874519"/>
            <a:ext cx="4159045" cy="457200"/>
          </a:xfrm>
          <a:prstGeom prst="rect">
            <a:avLst/>
          </a:prstGeom>
          <a:noFill/>
        </p:spPr>
        <p:txBody>
          <a:bodyPr wrap="square" lIns="0" rIns="0" tIns="0" bIns="0" anchor="t">
            <a:spAutoFit/>
          </a:bodyPr>
          <a:lstStyle/>
          <a:p>
            <a:pPr algn="ctr">
              <a:lnSpc>
                <a:spcPct val="100000"/>
              </a:lnSpc>
            </a:pPr>
            <a:r>
              <a:rPr sz="900" b="0" i="0">
                <a:solidFill>
                  <a:srgbClr val="0E2D69"/>
                </a:solidFill>
                <a:latin typeface="Arial"/>
              </a:rPr>
              <a:t>2022-11 – 2026-09</a:t>
            </a:r>
          </a:p>
          <a:p>
            <a:pPr algn="ctr">
              <a:lnSpc>
                <a:spcPct val="100000"/>
              </a:lnSpc>
            </a:pPr>
            <a:r>
              <a:rPr sz="1400" b="0" i="0">
                <a:solidFill>
                  <a:srgbClr val="0E2D69"/>
                </a:solidFill>
                <a:latin typeface="Arial"/>
              </a:rPr>
              <a:t>SECOND HALF</a:t>
            </a:r>
          </a:p>
        </p:txBody>
      </p:sp>
      <p:sp>
        <p:nvSpPr>
          <p:cNvPr id="14" name="TextBox 13"/>
          <p:cNvSpPr txBox="1"/>
          <p:nvPr/>
        </p:nvSpPr>
        <p:spPr>
          <a:xfrm>
            <a:off x="429768" y="2606040"/>
            <a:ext cx="8284464" cy="411480"/>
          </a:xfrm>
          <a:prstGeom prst="rect">
            <a:avLst/>
          </a:prstGeom>
          <a:noFill/>
        </p:spPr>
        <p:txBody>
          <a:bodyPr wrap="square" lIns="0" rIns="0" tIns="0" bIns="0" anchor="t">
            <a:spAutoFit/>
          </a:bodyPr>
          <a:lstStyle/>
          <a:p>
            <a:pPr algn="ctr">
              <a:lnSpc>
                <a:spcPct val="100000"/>
              </a:lnSpc>
            </a:pPr>
            <a:r>
              <a:rPr sz="2600" b="0" i="0">
                <a:solidFill>
                  <a:srgbClr val="0E2D69"/>
                </a:solidFill>
                <a:latin typeface="Arial"/>
              </a:rPr>
              <a:t>Binance spot · USDT pairs</a:t>
            </a:r>
          </a:p>
        </p:txBody>
      </p:sp>
      <p:sp>
        <p:nvSpPr>
          <p:cNvPr id="15" name="TextBox 14"/>
          <p:cNvSpPr txBox="1"/>
          <p:nvPr/>
        </p:nvSpPr>
        <p:spPr>
          <a:xfrm>
            <a:off x="429768" y="3230880"/>
            <a:ext cx="1920240" cy="609600"/>
          </a:xfrm>
          <a:prstGeom prst="rect">
            <a:avLst/>
          </a:prstGeom>
          <a:noFill/>
        </p:spPr>
        <p:txBody>
          <a:bodyPr wrap="square" lIns="0" rIns="0" tIns="0" bIns="0" anchor="t">
            <a:spAutoFit/>
          </a:bodyPr>
          <a:lstStyle/>
          <a:p>
            <a:pPr algn="l">
              <a:lnSpc>
                <a:spcPct val="100000"/>
              </a:lnSpc>
            </a:pPr>
            <a:r>
              <a:rPr sz="4000" b="0" i="0">
                <a:solidFill>
                  <a:srgbClr val="0E2D69"/>
                </a:solidFill>
                <a:latin typeface="Arial"/>
              </a:rPr>
              <a:t>626</a:t>
            </a:r>
          </a:p>
        </p:txBody>
      </p:sp>
      <p:sp>
        <p:nvSpPr>
          <p:cNvPr id="16" name="TextBox 15"/>
          <p:cNvSpPr txBox="1"/>
          <p:nvPr/>
        </p:nvSpPr>
        <p:spPr>
          <a:xfrm>
            <a:off x="429768" y="3886200"/>
            <a:ext cx="192024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coins</a:t>
            </a:r>
          </a:p>
        </p:txBody>
      </p:sp>
      <p:sp>
        <p:nvSpPr>
          <p:cNvPr id="17" name="TextBox 16"/>
          <p:cNvSpPr txBox="1"/>
          <p:nvPr/>
        </p:nvSpPr>
        <p:spPr>
          <a:xfrm>
            <a:off x="2441448" y="3230880"/>
            <a:ext cx="1920240" cy="609600"/>
          </a:xfrm>
          <a:prstGeom prst="rect">
            <a:avLst/>
          </a:prstGeom>
          <a:noFill/>
        </p:spPr>
        <p:txBody>
          <a:bodyPr wrap="square" lIns="0" rIns="0" tIns="0" bIns="0" anchor="t">
            <a:spAutoFit/>
          </a:bodyPr>
          <a:lstStyle/>
          <a:p>
            <a:pPr algn="l">
              <a:lnSpc>
                <a:spcPct val="100000"/>
              </a:lnSpc>
            </a:pPr>
            <a:r>
              <a:rPr sz="4000" b="0" i="0">
                <a:solidFill>
                  <a:srgbClr val="0E2D69"/>
                </a:solidFill>
                <a:latin typeface="Arial"/>
              </a:rPr>
              <a:t>93</a:t>
            </a:r>
          </a:p>
        </p:txBody>
      </p:sp>
      <p:sp>
        <p:nvSpPr>
          <p:cNvPr id="18" name="TextBox 17"/>
          <p:cNvSpPr txBox="1"/>
          <p:nvPr/>
        </p:nvSpPr>
        <p:spPr>
          <a:xfrm>
            <a:off x="2441448" y="3886200"/>
            <a:ext cx="192024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months</a:t>
            </a:r>
          </a:p>
        </p:txBody>
      </p:sp>
      <p:sp>
        <p:nvSpPr>
          <p:cNvPr id="19" name="TextBox 18"/>
          <p:cNvSpPr txBox="1"/>
          <p:nvPr/>
        </p:nvSpPr>
        <p:spPr>
          <a:xfrm>
            <a:off x="4453128" y="3230880"/>
            <a:ext cx="1920240" cy="609600"/>
          </a:xfrm>
          <a:prstGeom prst="rect">
            <a:avLst/>
          </a:prstGeom>
          <a:noFill/>
        </p:spPr>
        <p:txBody>
          <a:bodyPr wrap="square" lIns="0" rIns="0" tIns="0" bIns="0" anchor="t">
            <a:spAutoFit/>
          </a:bodyPr>
          <a:lstStyle/>
          <a:p>
            <a:pPr algn="l">
              <a:lnSpc>
                <a:spcPct val="100000"/>
              </a:lnSpc>
            </a:pPr>
            <a:r>
              <a:rPr sz="4000" b="0" i="0">
                <a:solidFill>
                  <a:srgbClr val="0E2D69"/>
                </a:solidFill>
                <a:latin typeface="Arial"/>
              </a:rPr>
              <a:t>24 628</a:t>
            </a:r>
          </a:p>
        </p:txBody>
      </p:sp>
      <p:sp>
        <p:nvSpPr>
          <p:cNvPr id="20" name="TextBox 19"/>
          <p:cNvSpPr txBox="1"/>
          <p:nvPr/>
        </p:nvSpPr>
        <p:spPr>
          <a:xfrm>
            <a:off x="4453128" y="3886200"/>
            <a:ext cx="192024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coin-months</a:t>
            </a:r>
          </a:p>
        </p:txBody>
      </p:sp>
      <p:sp>
        <p:nvSpPr>
          <p:cNvPr id="21" name="TextBox 20"/>
          <p:cNvSpPr txBox="1"/>
          <p:nvPr/>
        </p:nvSpPr>
        <p:spPr>
          <a:xfrm>
            <a:off x="6675120" y="3230880"/>
            <a:ext cx="2103120" cy="609600"/>
          </a:xfrm>
          <a:prstGeom prst="rect">
            <a:avLst/>
          </a:prstGeom>
          <a:noFill/>
        </p:spPr>
        <p:txBody>
          <a:bodyPr wrap="square" lIns="0" rIns="0" tIns="0" bIns="0" anchor="t">
            <a:spAutoFit/>
          </a:bodyPr>
          <a:lstStyle/>
          <a:p>
            <a:pPr algn="l">
              <a:lnSpc>
                <a:spcPct val="100000"/>
              </a:lnSpc>
            </a:pPr>
            <a:r>
              <a:rPr sz="4000" b="0" i="0">
                <a:solidFill>
                  <a:srgbClr val="0E2D69"/>
                </a:solidFill>
                <a:latin typeface="Arial"/>
              </a:rPr>
              <a:t>3</a:t>
            </a:r>
          </a:p>
        </p:txBody>
      </p:sp>
      <p:sp>
        <p:nvSpPr>
          <p:cNvPr id="22" name="TextBox 21"/>
          <p:cNvSpPr txBox="1"/>
          <p:nvPr/>
        </p:nvSpPr>
        <p:spPr>
          <a:xfrm>
            <a:off x="6675120" y="3886200"/>
            <a:ext cx="210312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signals: A, A</a:t>
            </a:r>
            <a:r>
              <a:rPr sz="1200" b="0" i="0" baseline="-25000">
                <a:solidFill>
                  <a:srgbClr val="0E2D69"/>
                </a:solidFill>
                <a:latin typeface="Arial"/>
              </a:rPr>
              <a:t>C</a:t>
            </a:r>
            <a:r>
              <a:rPr sz="1200" b="0" i="0">
                <a:solidFill>
                  <a:srgbClr val="0E2D69"/>
                </a:solidFill>
                <a:latin typeface="Arial"/>
              </a:rPr>
              <a:t>, Res.A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9</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Data analysis: what differs from the paper</a:t>
            </a:r>
          </a:p>
        </p:txBody>
      </p:sp>
      <p:graphicFrame>
        <p:nvGraphicFramePr>
          <p:cNvPr id="6" name="Table 5"/>
          <p:cNvGraphicFramePr>
            <a:graphicFrameLocks noGrp="1"/>
          </p:cNvGraphicFramePr>
          <p:nvPr/>
        </p:nvGraphicFramePr>
        <p:xfrm>
          <a:off x="429768" y="1600200"/>
          <a:ext cx="4754880" cy="1645920"/>
        </p:xfrm>
        <a:graphic>
          <a:graphicData uri="http://schemas.openxmlformats.org/drawingml/2006/table">
            <a:tbl>
              <a:tblPr firstRow="0" bandRow="0">
                <a:tableStyleId>{2D5ABB26-0587-4C30-8999-92F81FD0307C}</a:tableStyleId>
              </a:tblPr>
              <a:tblGrid>
                <a:gridCol w="2560320"/>
                <a:gridCol w="1097280"/>
                <a:gridCol w="1097280"/>
              </a:tblGrid>
              <a:tr h="411480">
                <a:tc>
                  <a:txBody>
                    <a:bodyPr/>
                    <a:lstStyle/>
                    <a:p>
                      <a:pPr algn="l"/>
                    </a:p>
                  </a:txBody>
                  <a:tcPr marL="36576" marR="36576">
                    <a:noFill/>
                  </a:tcPr>
                </a:tc>
                <a:tc>
                  <a:txBody>
                    <a:bodyPr/>
                    <a:lstStyle/>
                    <a:p>
                      <a:pPr algn="r"/>
                      <a:r>
                        <a:rPr sz="1400" b="1" i="0">
                          <a:solidFill>
                            <a:srgbClr val="0E2D69"/>
                          </a:solidFill>
                          <a:latin typeface="Arial"/>
                        </a:rPr>
                        <a:t>paper</a:t>
                      </a:r>
                    </a:p>
                  </a:txBody>
                  <a:tcPr marL="36576" marR="36576">
                    <a:noFill/>
                  </a:tcPr>
                </a:tc>
                <a:tc>
                  <a:txBody>
                    <a:bodyPr/>
                    <a:lstStyle/>
                    <a:p>
                      <a:pPr algn="r"/>
                      <a:r>
                        <a:rPr sz="1400" b="1" i="0">
                          <a:solidFill>
                            <a:srgbClr val="0E2D69"/>
                          </a:solidFill>
                          <a:latin typeface="Arial"/>
                        </a:rPr>
                        <a:t>Binance</a:t>
                      </a:r>
                    </a:p>
                  </a:txBody>
                  <a:tcPr marL="36576" marR="36576">
                    <a:noFill/>
                  </a:tcPr>
                </a:tc>
              </a:tr>
              <a:tr h="411480">
                <a:tc>
                  <a:txBody>
                    <a:bodyPr/>
                    <a:lstStyle/>
                    <a:p>
                      <a:pPr algn="l"/>
                      <a:r>
                        <a:rPr sz="1400" b="0" i="0">
                          <a:solidFill>
                            <a:srgbClr val="0E2D69"/>
                          </a:solidFill>
                          <a:latin typeface="Arial"/>
                        </a:rPr>
                        <a:t>spread of A</a:t>
                      </a:r>
                      <a:r>
                        <a:rPr sz="1400" b="0" i="0" baseline="-25000">
                          <a:solidFill>
                            <a:srgbClr val="0E2D69"/>
                          </a:solidFill>
                          <a:latin typeface="Arial"/>
                        </a:rPr>
                        <a:t>C</a:t>
                      </a:r>
                      <a:r>
                        <a:rPr sz="1400" b="0" i="0">
                          <a:solidFill>
                            <a:srgbClr val="0E2D69"/>
                          </a:solidFill>
                          <a:latin typeface="Arial"/>
                        </a:rPr>
                        <a:t>, Q75/Q25</a:t>
                      </a:r>
                    </a:p>
                  </a:txBody>
                  <a:tcPr marL="36576" marR="36576">
                    <a:noFill/>
                  </a:tcPr>
                </a:tc>
                <a:tc>
                  <a:txBody>
                    <a:bodyPr/>
                    <a:lstStyle/>
                    <a:p>
                      <a:pPr algn="r"/>
                      <a:r>
                        <a:rPr sz="1400" b="0" i="0">
                          <a:solidFill>
                            <a:srgbClr val="0E2D69"/>
                          </a:solidFill>
                          <a:latin typeface="Arial"/>
                        </a:rPr>
                        <a:t>116.60</a:t>
                      </a:r>
                    </a:p>
                  </a:txBody>
                  <a:tcPr marL="36576" marR="36576">
                    <a:noFill/>
                  </a:tcPr>
                </a:tc>
                <a:tc>
                  <a:txBody>
                    <a:bodyPr/>
                    <a:lstStyle/>
                    <a:p>
                      <a:pPr algn="r"/>
                      <a:r>
                        <a:rPr sz="1400" b="0" i="0">
                          <a:solidFill>
                            <a:srgbClr val="0E2D69"/>
                          </a:solidFill>
                          <a:latin typeface="Arial"/>
                        </a:rPr>
                        <a:t>9.40</a:t>
                      </a:r>
                    </a:p>
                  </a:txBody>
                  <a:tcPr marL="36576" marR="36576">
                    <a:noFill/>
                  </a:tcPr>
                </a:tc>
              </a:tr>
              <a:tr h="411480">
                <a:tc>
                  <a:txBody>
                    <a:bodyPr/>
                    <a:lstStyle/>
                    <a:p>
                      <a:pPr algn="l"/>
                      <a:r>
                        <a:rPr sz="1400" b="0" i="0">
                          <a:solidFill>
                            <a:srgbClr val="0E2D69"/>
                          </a:solidFill>
                          <a:latin typeface="Arial"/>
                        </a:rPr>
                        <a:t>corr(A, |Ret|)</a:t>
                      </a:r>
                    </a:p>
                  </a:txBody>
                  <a:tcPr marL="36576" marR="36576">
                    <a:noFill/>
                  </a:tcPr>
                </a:tc>
                <a:tc>
                  <a:txBody>
                    <a:bodyPr/>
                    <a:lstStyle/>
                    <a:p>
                      <a:pPr algn="r"/>
                      <a:r>
                        <a:rPr sz="1400" b="0" i="0">
                          <a:solidFill>
                            <a:srgbClr val="0E2D69"/>
                          </a:solidFill>
                          <a:latin typeface="Arial"/>
                        </a:rPr>
                        <a:t>0.489</a:t>
                      </a:r>
                    </a:p>
                  </a:txBody>
                  <a:tcPr marL="36576" marR="36576">
                    <a:noFill/>
                  </a:tcPr>
                </a:tc>
                <a:tc>
                  <a:txBody>
                    <a:bodyPr/>
                    <a:lstStyle/>
                    <a:p>
                      <a:pPr algn="r"/>
                      <a:r>
                        <a:rPr sz="1400" b="0" i="0">
                          <a:solidFill>
                            <a:srgbClr val="0E2D69"/>
                          </a:solidFill>
                          <a:latin typeface="Arial"/>
                        </a:rPr>
                        <a:t>−0.133</a:t>
                      </a:r>
                    </a:p>
                  </a:txBody>
                  <a:tcPr marL="36576" marR="36576">
                    <a:noFill/>
                  </a:tcPr>
                </a:tc>
              </a:tr>
              <a:tr h="411480">
                <a:tc>
                  <a:txBody>
                    <a:bodyPr/>
                    <a:lstStyle/>
                    <a:p>
                      <a:pPr algn="l"/>
                      <a:r>
                        <a:rPr sz="1400" b="0" i="0">
                          <a:solidFill>
                            <a:srgbClr val="0E2D69"/>
                          </a:solidFill>
                          <a:latin typeface="Arial"/>
                        </a:rPr>
                        <a:t>s.d. of monthly return</a:t>
                      </a:r>
                    </a:p>
                  </a:txBody>
                  <a:tcPr marL="36576" marR="36576">
                    <a:noFill/>
                  </a:tcPr>
                </a:tc>
                <a:tc>
                  <a:txBody>
                    <a:bodyPr/>
                    <a:lstStyle/>
                    <a:p>
                      <a:pPr algn="r"/>
                      <a:r>
                        <a:rPr sz="1400" b="0" i="0">
                          <a:solidFill>
                            <a:srgbClr val="0E2D69"/>
                          </a:solidFill>
                          <a:latin typeface="Arial"/>
                        </a:rPr>
                        <a:t>—</a:t>
                      </a:r>
                    </a:p>
                  </a:txBody>
                  <a:tcPr marL="36576" marR="36576">
                    <a:noFill/>
                  </a:tcPr>
                </a:tc>
                <a:tc>
                  <a:txBody>
                    <a:bodyPr/>
                    <a:lstStyle/>
                    <a:p>
                      <a:pPr algn="r"/>
                      <a:r>
                        <a:rPr sz="1400" b="0" i="0">
                          <a:solidFill>
                            <a:srgbClr val="0E2D69"/>
                          </a:solidFill>
                          <a:latin typeface="Arial"/>
                        </a:rPr>
                        <a:t>43.9%</a:t>
                      </a:r>
                    </a:p>
                  </a:txBody>
                  <a:tcPr marL="36576" marR="36576">
                    <a:noFill/>
                  </a:tcPr>
                </a:tc>
              </a:tr>
            </a:tbl>
          </a:graphicData>
        </a:graphic>
      </p:graphicFrame>
      <p:sp>
        <p:nvSpPr>
          <p:cNvPr id="7" name="Rectangle 6"/>
          <p:cNvSpPr/>
          <p:nvPr/>
        </p:nvSpPr>
        <p:spPr>
          <a:xfrm>
            <a:off x="429768" y="1600200"/>
            <a:ext cx="4754880" cy="18288"/>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 y="2011680"/>
            <a:ext cx="4754880" cy="9144"/>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 y="3246120"/>
            <a:ext cx="4754880" cy="18288"/>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1828800"/>
            <a:ext cx="3108960" cy="1280160"/>
          </a:xfrm>
          <a:prstGeom prst="rect">
            <a:avLst/>
          </a:prstGeom>
          <a:noFill/>
        </p:spPr>
        <p:txBody>
          <a:bodyPr wrap="square" lIns="0" rIns="0" tIns="0" bIns="0" anchor="t">
            <a:spAutoFit/>
          </a:bodyPr>
          <a:lstStyle/>
          <a:p>
            <a:pPr algn="l">
              <a:lnSpc>
                <a:spcPct val="105000"/>
              </a:lnSpc>
            </a:pPr>
            <a:r>
              <a:rPr sz="1800" b="0" i="0">
                <a:solidFill>
                  <a:srgbClr val="0E2D69"/>
                </a:solidFill>
                <a:latin typeface="Arial"/>
              </a:rPr>
              <a:t>Coins differ less in liquidity, move much more, and trade more when volatile.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10</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One outlier month: March 2021</a:t>
            </a:r>
          </a:p>
        </p:txBody>
      </p:sp>
      <p:pic>
        <p:nvPicPr>
          <p:cNvPr id="6" name="Picture 5" descr="fig_hl_cumulative.png"/>
          <p:cNvPicPr>
            <a:picLocks noChangeAspect="1"/>
          </p:cNvPicPr>
          <p:nvPr/>
        </p:nvPicPr>
        <p:blipFill>
          <a:blip r:embed="rId4"/>
          <a:stretch>
            <a:fillRect/>
          </a:stretch>
        </p:blipFill>
        <p:spPr>
          <a:xfrm>
            <a:off x="1271903" y="1280160"/>
            <a:ext cx="6600194" cy="3017520"/>
          </a:xfrm>
          <a:prstGeom prst="rect">
            <a:avLst/>
          </a:prstGeom>
        </p:spPr>
      </p:pic>
      <p:sp>
        <p:nvSpPr>
          <p:cNvPr id="7" name="TextBox 6"/>
          <p:cNvSpPr txBox="1"/>
          <p:nvPr/>
        </p:nvSpPr>
        <p:spPr>
          <a:xfrm>
            <a:off x="429768" y="443484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The altcoin season makes the volume spread. Without it: 0.09% per month.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11</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Our replication next to the paper</a:t>
            </a:r>
          </a:p>
        </p:txBody>
      </p:sp>
      <p:pic>
        <p:nvPicPr>
          <p:cNvPr id="6" name="Picture 5" descr="fig_quintiles.png"/>
          <p:cNvPicPr>
            <a:picLocks noChangeAspect="1"/>
          </p:cNvPicPr>
          <p:nvPr/>
        </p:nvPicPr>
        <p:blipFill>
          <a:blip r:embed="rId4"/>
          <a:stretch>
            <a:fillRect/>
          </a:stretch>
        </p:blipFill>
        <p:spPr>
          <a:xfrm>
            <a:off x="1585004" y="1261872"/>
            <a:ext cx="5973991" cy="3063240"/>
          </a:xfrm>
          <a:prstGeom prst="rect">
            <a:avLst/>
          </a:prstGeom>
        </p:spPr>
      </p:pic>
      <p:sp>
        <p:nvSpPr>
          <p:cNvPr id="7" name="TextBox 6"/>
          <p:cNvSpPr txBox="1"/>
          <p:nvPr/>
        </p:nvSpPr>
        <p:spPr>
          <a:xfrm>
            <a:off x="429768" y="443484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Same signs, but noisy: H-L on A</a:t>
            </a:r>
            <a:r>
              <a:rPr sz="1800" b="0" i="0" baseline="-25000">
                <a:solidFill>
                  <a:srgbClr val="0E2D69"/>
                </a:solidFill>
                <a:latin typeface="Arial"/>
              </a:rPr>
              <a:t>C</a:t>
            </a:r>
            <a:r>
              <a:rPr sz="1800" b="0" i="0">
                <a:solidFill>
                  <a:srgbClr val="0E2D69"/>
                </a:solidFill>
                <a:latin typeface="Arial"/>
              </a:rPr>
              <a:t> 1.70 (t 1.12).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12</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Upgrades</a:t>
            </a:r>
          </a:p>
        </p:txBody>
      </p:sp>
      <p:sp>
        <p:nvSpPr>
          <p:cNvPr id="6" name="TextBox 5"/>
          <p:cNvSpPr txBox="1"/>
          <p:nvPr/>
        </p:nvSpPr>
        <p:spPr>
          <a:xfrm>
            <a:off x="429768" y="1996440"/>
            <a:ext cx="2011680" cy="609600"/>
          </a:xfrm>
          <a:prstGeom prst="rect">
            <a:avLst/>
          </a:prstGeom>
          <a:noFill/>
        </p:spPr>
        <p:txBody>
          <a:bodyPr wrap="square" lIns="0" rIns="0" tIns="0" bIns="0" anchor="t">
            <a:spAutoFit/>
          </a:bodyPr>
          <a:lstStyle/>
          <a:p>
            <a:pPr algn="ctr">
              <a:lnSpc>
                <a:spcPct val="100000"/>
              </a:lnSpc>
            </a:pPr>
            <a:r>
              <a:rPr sz="4000" b="0" i="0">
                <a:solidFill>
                  <a:srgbClr val="0E2D69"/>
                </a:solidFill>
                <a:latin typeface="Arial"/>
              </a:rPr>
              <a:t>0.615</a:t>
            </a:r>
          </a:p>
        </p:txBody>
      </p:sp>
      <p:sp>
        <p:nvSpPr>
          <p:cNvPr id="7" name="TextBox 6"/>
          <p:cNvSpPr txBox="1"/>
          <p:nvPr/>
        </p:nvSpPr>
        <p:spPr>
          <a:xfrm>
            <a:off x="429768" y="2651760"/>
            <a:ext cx="201168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corr with 5-min λ</a:t>
            </a:r>
          </a:p>
          <a:p>
            <a:pPr algn="ctr">
              <a:lnSpc>
                <a:spcPct val="100000"/>
              </a:lnSpc>
            </a:pPr>
            <a:r>
              <a:rPr sz="1200" b="0" i="0">
                <a:solidFill>
                  <a:srgbClr val="0E2D69"/>
                </a:solidFill>
                <a:latin typeface="Arial"/>
              </a:rPr>
              <a:t>(paper 0.737)</a:t>
            </a:r>
          </a:p>
        </p:txBody>
      </p:sp>
      <p:sp>
        <p:nvSpPr>
          <p:cNvPr id="8" name="TextBox 7"/>
          <p:cNvSpPr txBox="1"/>
          <p:nvPr/>
        </p:nvSpPr>
        <p:spPr>
          <a:xfrm>
            <a:off x="2532888" y="1996440"/>
            <a:ext cx="2011680" cy="609600"/>
          </a:xfrm>
          <a:prstGeom prst="rect">
            <a:avLst/>
          </a:prstGeom>
          <a:noFill/>
        </p:spPr>
        <p:txBody>
          <a:bodyPr wrap="square" lIns="0" rIns="0" tIns="0" bIns="0" anchor="t">
            <a:spAutoFit/>
          </a:bodyPr>
          <a:lstStyle/>
          <a:p>
            <a:pPr algn="ctr">
              <a:lnSpc>
                <a:spcPct val="100000"/>
              </a:lnSpc>
            </a:pPr>
            <a:r>
              <a:rPr sz="4000" b="0" i="0">
                <a:solidFill>
                  <a:srgbClr val="0E2D69"/>
                </a:solidFill>
                <a:latin typeface="Arial"/>
              </a:rPr>
              <a:t>98.8%</a:t>
            </a:r>
          </a:p>
        </p:txBody>
      </p:sp>
      <p:sp>
        <p:nvSpPr>
          <p:cNvPr id="9" name="TextBox 8"/>
          <p:cNvSpPr txBox="1"/>
          <p:nvPr/>
        </p:nvSpPr>
        <p:spPr>
          <a:xfrm>
            <a:off x="2532888" y="2651760"/>
            <a:ext cx="201168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months with COV &lt; 0</a:t>
            </a:r>
          </a:p>
          <a:p>
            <a:pPr algn="ctr">
              <a:lnSpc>
                <a:spcPct val="100000"/>
              </a:lnSpc>
            </a:pPr>
            <a:r>
              <a:rPr sz="1200" b="0" i="0">
                <a:solidFill>
                  <a:srgbClr val="0E2D69"/>
                </a:solidFill>
                <a:latin typeface="Arial"/>
              </a:rPr>
              <a:t>(Amihud &amp; Noh premise)</a:t>
            </a:r>
          </a:p>
        </p:txBody>
      </p:sp>
      <p:sp>
        <p:nvSpPr>
          <p:cNvPr id="10" name="TextBox 9"/>
          <p:cNvSpPr txBox="1"/>
          <p:nvPr/>
        </p:nvSpPr>
        <p:spPr>
          <a:xfrm>
            <a:off x="4636008" y="2270760"/>
            <a:ext cx="2011680" cy="335280"/>
          </a:xfrm>
          <a:prstGeom prst="rect">
            <a:avLst/>
          </a:prstGeom>
          <a:noFill/>
        </p:spPr>
        <p:txBody>
          <a:bodyPr wrap="square" lIns="0" rIns="0" tIns="0" bIns="0" anchor="t">
            <a:spAutoFit/>
          </a:bodyPr>
          <a:lstStyle/>
          <a:p>
            <a:pPr algn="ctr">
              <a:lnSpc>
                <a:spcPct val="100000"/>
              </a:lnSpc>
            </a:pPr>
            <a:r>
              <a:rPr sz="2200" b="0" i="0">
                <a:solidFill>
                  <a:srgbClr val="0E2D69"/>
                </a:solidFill>
                <a:latin typeface="Arial"/>
              </a:rPr>
              <a:t>2.57 (t 1.84)</a:t>
            </a:r>
          </a:p>
        </p:txBody>
      </p:sp>
      <p:sp>
        <p:nvSpPr>
          <p:cNvPr id="11" name="TextBox 10"/>
          <p:cNvSpPr txBox="1"/>
          <p:nvPr/>
        </p:nvSpPr>
        <p:spPr>
          <a:xfrm>
            <a:off x="4636008" y="2651760"/>
            <a:ext cx="201168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sentiment long-short</a:t>
            </a:r>
          </a:p>
        </p:txBody>
      </p:sp>
      <p:sp>
        <p:nvSpPr>
          <p:cNvPr id="12" name="TextBox 11"/>
          <p:cNvSpPr txBox="1"/>
          <p:nvPr/>
        </p:nvSpPr>
        <p:spPr>
          <a:xfrm>
            <a:off x="6739128" y="2270760"/>
            <a:ext cx="2011680" cy="335280"/>
          </a:xfrm>
          <a:prstGeom prst="rect">
            <a:avLst/>
          </a:prstGeom>
          <a:noFill/>
        </p:spPr>
        <p:txBody>
          <a:bodyPr wrap="square" lIns="0" rIns="0" tIns="0" bIns="0" anchor="t">
            <a:spAutoFit/>
          </a:bodyPr>
          <a:lstStyle/>
          <a:p>
            <a:pPr algn="ctr">
              <a:lnSpc>
                <a:spcPct val="100000"/>
              </a:lnSpc>
            </a:pPr>
            <a:r>
              <a:rPr sz="2200" b="0" i="0">
                <a:solidFill>
                  <a:srgbClr val="0E2D69"/>
                </a:solidFill>
                <a:latin typeface="Arial"/>
              </a:rPr>
              <a:t>0.308 (t 2.87)</a:t>
            </a:r>
          </a:p>
        </p:txBody>
      </p:sp>
      <p:sp>
        <p:nvSpPr>
          <p:cNvPr id="13" name="TextBox 12"/>
          <p:cNvSpPr txBox="1"/>
          <p:nvPr/>
        </p:nvSpPr>
        <p:spPr>
          <a:xfrm>
            <a:off x="6739128" y="2651760"/>
            <a:ext cx="201168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ln A</a:t>
            </a:r>
            <a:r>
              <a:rPr sz="1200" b="0" i="0" baseline="-25000">
                <a:solidFill>
                  <a:srgbClr val="0E2D69"/>
                </a:solidFill>
                <a:latin typeface="Arial"/>
              </a:rPr>
              <a:t>C</a:t>
            </a:r>
            <a:r>
              <a:rPr sz="1200" b="0" i="0">
                <a:solidFill>
                  <a:srgbClr val="0E2D69"/>
                </a:solidFill>
                <a:latin typeface="Arial"/>
              </a:rPr>
              <a:t> on MOEX</a:t>
            </a:r>
          </a:p>
        </p:txBody>
      </p:sp>
      <p:sp>
        <p:nvSpPr>
          <p:cNvPr id="14" name="TextBox 13"/>
          <p:cNvSpPr txBox="1"/>
          <p:nvPr/>
        </p:nvSpPr>
        <p:spPr>
          <a:xfrm>
            <a:off x="429768" y="388620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Amihud tracks true price impact, but no upgrade settles the debate.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13</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The paper versus us</a:t>
            </a:r>
          </a:p>
        </p:txBody>
      </p:sp>
      <p:sp>
        <p:nvSpPr>
          <p:cNvPr id="6" name="TextBox 5"/>
          <p:cNvSpPr txBox="1"/>
          <p:nvPr/>
        </p:nvSpPr>
        <p:spPr>
          <a:xfrm>
            <a:off x="5486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25/28</a:t>
            </a:r>
          </a:p>
        </p:txBody>
      </p:sp>
      <p:sp>
        <p:nvSpPr>
          <p:cNvPr id="7" name="TextBox 6"/>
          <p:cNvSpPr txBox="1"/>
          <p:nvPr/>
        </p:nvSpPr>
        <p:spPr>
          <a:xfrm>
            <a:off x="5486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signs agree</a:t>
            </a:r>
          </a:p>
        </p:txBody>
      </p:sp>
      <p:sp>
        <p:nvSpPr>
          <p:cNvPr id="8" name="TextBox 7"/>
          <p:cNvSpPr txBox="1"/>
          <p:nvPr/>
        </p:nvSpPr>
        <p:spPr>
          <a:xfrm>
            <a:off x="32918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8/21</a:t>
            </a:r>
          </a:p>
        </p:txBody>
      </p:sp>
      <p:sp>
        <p:nvSpPr>
          <p:cNvPr id="9" name="TextBox 8"/>
          <p:cNvSpPr txBox="1"/>
          <p:nvPr/>
        </p:nvSpPr>
        <p:spPr>
          <a:xfrm>
            <a:off x="32918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significant results repeat</a:t>
            </a:r>
          </a:p>
        </p:txBody>
      </p:sp>
      <p:sp>
        <p:nvSpPr>
          <p:cNvPr id="10" name="TextBox 9"/>
          <p:cNvSpPr txBox="1"/>
          <p:nvPr/>
        </p:nvSpPr>
        <p:spPr>
          <a:xfrm>
            <a:off x="60350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7.0×</a:t>
            </a:r>
          </a:p>
        </p:txBody>
      </p:sp>
      <p:sp>
        <p:nvSpPr>
          <p:cNvPr id="11" name="TextBox 10"/>
          <p:cNvSpPr txBox="1"/>
          <p:nvPr/>
        </p:nvSpPr>
        <p:spPr>
          <a:xfrm>
            <a:off x="60350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smallest premium we could</a:t>
            </a:r>
          </a:p>
          <a:p>
            <a:pPr algn="ctr">
              <a:lnSpc>
                <a:spcPct val="100000"/>
              </a:lnSpc>
            </a:pPr>
            <a:r>
              <a:rPr sz="1200" b="0" i="0">
                <a:solidFill>
                  <a:srgbClr val="0E2D69"/>
                </a:solidFill>
                <a:latin typeface="Arial"/>
              </a:rPr>
              <a:t>detect, vs the paper's</a:t>
            </a:r>
          </a:p>
        </p:txBody>
      </p:sp>
      <p:sp>
        <p:nvSpPr>
          <p:cNvPr id="12" name="TextBox 11"/>
          <p:cNvSpPr txBox="1"/>
          <p:nvPr/>
        </p:nvSpPr>
        <p:spPr>
          <a:xfrm>
            <a:off x="429768" y="388620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The direction replicates. With 93 months instead of 588, significance does 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14</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Overfitting</a:t>
            </a:r>
          </a:p>
        </p:txBody>
      </p:sp>
      <p:sp>
        <p:nvSpPr>
          <p:cNvPr id="6" name="TextBox 5"/>
          <p:cNvSpPr txBox="1"/>
          <p:nvPr/>
        </p:nvSpPr>
        <p:spPr>
          <a:xfrm>
            <a:off x="5486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16/73</a:t>
            </a:r>
          </a:p>
        </p:txBody>
      </p:sp>
      <p:sp>
        <p:nvSpPr>
          <p:cNvPr id="7" name="TextBox 6"/>
          <p:cNvSpPr txBox="1"/>
          <p:nvPr/>
        </p:nvSpPr>
        <p:spPr>
          <a:xfrm>
            <a:off x="5486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tests pass 1.96</a:t>
            </a:r>
          </a:p>
          <a:p>
            <a:pPr algn="ctr">
              <a:lnSpc>
                <a:spcPct val="100000"/>
              </a:lnSpc>
            </a:pPr>
            <a:r>
              <a:rPr sz="1200" b="0" i="0">
                <a:solidFill>
                  <a:srgbClr val="0E2D69"/>
                </a:solidFill>
                <a:latin typeface="Arial"/>
              </a:rPr>
              <a:t>(3.65–5.7 expected by chance)</a:t>
            </a:r>
          </a:p>
        </p:txBody>
      </p:sp>
      <p:sp>
        <p:nvSpPr>
          <p:cNvPr id="8" name="TextBox 7"/>
          <p:cNvSpPr txBox="1"/>
          <p:nvPr/>
        </p:nvSpPr>
        <p:spPr>
          <a:xfrm>
            <a:off x="32918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0</a:t>
            </a:r>
          </a:p>
        </p:txBody>
      </p:sp>
      <p:sp>
        <p:nvSpPr>
          <p:cNvPr id="9" name="TextBox 8"/>
          <p:cNvSpPr txBox="1"/>
          <p:nvPr/>
        </p:nvSpPr>
        <p:spPr>
          <a:xfrm>
            <a:off x="32918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survive Bonferroni</a:t>
            </a:r>
          </a:p>
        </p:txBody>
      </p:sp>
      <p:sp>
        <p:nvSpPr>
          <p:cNvPr id="10" name="TextBox 9"/>
          <p:cNvSpPr txBox="1"/>
          <p:nvPr/>
        </p:nvSpPr>
        <p:spPr>
          <a:xfrm>
            <a:off x="60350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2/11</a:t>
            </a:r>
          </a:p>
        </p:txBody>
      </p:sp>
      <p:sp>
        <p:nvSpPr>
          <p:cNvPr id="11" name="TextBox 10"/>
          <p:cNvSpPr txBox="1"/>
          <p:nvPr/>
        </p:nvSpPr>
        <p:spPr>
          <a:xfrm>
            <a:off x="60350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stable in the bootstrap</a:t>
            </a:r>
          </a:p>
        </p:txBody>
      </p:sp>
      <p:sp>
        <p:nvSpPr>
          <p:cNvPr id="12" name="TextBox 11"/>
          <p:cNvSpPr txBox="1"/>
          <p:nvPr/>
        </p:nvSpPr>
        <p:spPr>
          <a:xfrm>
            <a:off x="429768" y="388620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Every test logged: our evidence is weak, and we say 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15</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Takeaways</a:t>
            </a:r>
          </a:p>
        </p:txBody>
      </p:sp>
      <p:sp>
        <p:nvSpPr>
          <p:cNvPr id="6" name="TextBox 5"/>
          <p:cNvSpPr txBox="1"/>
          <p:nvPr/>
        </p:nvSpPr>
        <p:spPr>
          <a:xfrm>
            <a:off x="429768" y="1737360"/>
            <a:ext cx="8229600" cy="2194560"/>
          </a:xfrm>
          <a:prstGeom prst="rect">
            <a:avLst/>
          </a:prstGeom>
          <a:noFill/>
        </p:spPr>
        <p:txBody>
          <a:bodyPr wrap="square" lIns="0" rIns="0" tIns="0" bIns="0" anchor="t">
            <a:spAutoFit/>
          </a:bodyPr>
          <a:lstStyle/>
          <a:p>
            <a:pPr algn="l">
              <a:lnSpc>
                <a:spcPct val="150000"/>
              </a:lnSpc>
            </a:pPr>
            <a:r>
              <a:rPr sz="2800" b="0" i="0">
                <a:solidFill>
                  <a:srgbClr val="0E2D69"/>
                </a:solidFill>
                <a:latin typeface="Arial"/>
              </a:rPr>
              <a:t>Amihud is mostly volume.</a:t>
            </a:r>
          </a:p>
          <a:p>
            <a:pPr algn="l">
              <a:lnSpc>
                <a:spcPct val="150000"/>
              </a:lnSpc>
            </a:pPr>
            <a:r>
              <a:rPr sz="2800" b="0" i="0">
                <a:solidFill>
                  <a:srgbClr val="0E2D69"/>
                </a:solidFill>
                <a:latin typeface="Arial"/>
              </a:rPr>
              <a:t>The paper's signs replicate on crypto.</a:t>
            </a:r>
          </a:p>
          <a:p>
            <a:pPr algn="l">
              <a:lnSpc>
                <a:spcPct val="150000"/>
              </a:lnSpc>
            </a:pPr>
            <a:r>
              <a:rPr sz="2800" b="0" i="0">
                <a:solidFill>
                  <a:srgbClr val="0E2D69"/>
                </a:solidFill>
                <a:latin typeface="Arial"/>
              </a:rPr>
              <a:t>Its significance needs more than 93 months.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rnament.png"/>
          <p:cNvPicPr>
            <a:picLocks noChangeAspect="1"/>
          </p:cNvPicPr>
          <p:nvPr/>
        </p:nvPicPr>
        <p:blipFill>
          <a:blip r:embed="rId3"/>
          <a:stretch>
            <a:fillRect/>
          </a:stretch>
        </p:blipFill>
        <p:spPr>
          <a:xfrm>
            <a:off x="0" y="0"/>
            <a:ext cx="9144000" cy="5143500"/>
          </a:xfrm>
          <a:prstGeom prst="rect">
            <a:avLst/>
          </a:prstGeom>
        </p:spPr>
      </p:pic>
      <p:pic>
        <p:nvPicPr>
          <p:cNvPr id="3" name="Picture 2" descr="logo_full.png"/>
          <p:cNvPicPr>
            <a:picLocks noChangeAspect="1"/>
          </p:cNvPicPr>
          <p:nvPr/>
        </p:nvPicPr>
        <p:blipFill>
          <a:blip r:embed="rId4"/>
          <a:stretch>
            <a:fillRect/>
          </a:stretch>
        </p:blipFill>
        <p:spPr>
          <a:xfrm>
            <a:off x="429768" y="256032"/>
            <a:ext cx="658368" cy="658368"/>
          </a:xfrm>
          <a:prstGeom prst="rect">
            <a:avLst/>
          </a:prstGeom>
        </p:spPr>
      </p:pic>
      <p:sp>
        <p:nvSpPr>
          <p:cNvPr id="4" name="TextBox 3"/>
          <p:cNvSpPr txBox="1"/>
          <p:nvPr/>
        </p:nvSpPr>
        <p:spPr>
          <a:xfrm>
            <a:off x="1280160" y="411480"/>
            <a:ext cx="6858000" cy="365760"/>
          </a:xfrm>
          <a:prstGeom prst="rect">
            <a:avLst/>
          </a:prstGeom>
          <a:noFill/>
        </p:spPr>
        <p:txBody>
          <a:bodyPr wrap="square" lIns="0" rIns="0" tIns="0" bIns="0" anchor="ctr">
            <a:spAutoFit/>
          </a:bodyPr>
          <a:lstStyle/>
          <a:p>
            <a:pPr algn="l">
              <a:lnSpc>
                <a:spcPct val="100000"/>
              </a:lnSpc>
            </a:pPr>
            <a:r>
              <a:rPr sz="2200" b="0" i="0">
                <a:solidFill>
                  <a:srgbClr val="0E2D69"/>
                </a:solidFill>
                <a:latin typeface="Arial"/>
              </a:rPr>
              <a:t>Price Impact or Trading Volume (Lou, Shu, 2017)</a:t>
            </a:r>
          </a:p>
        </p:txBody>
      </p:sp>
      <p:pic>
        <p:nvPicPr>
          <p:cNvPr id="5" name="Picture 4" descr="meme.png"/>
          <p:cNvPicPr>
            <a:picLocks noChangeAspect="1"/>
          </p:cNvPicPr>
          <p:nvPr/>
        </p:nvPicPr>
        <p:blipFill>
          <a:blip r:embed="rId5"/>
          <a:stretch>
            <a:fillRect/>
          </a:stretch>
        </p:blipFill>
        <p:spPr>
          <a:xfrm>
            <a:off x="654269" y="1143000"/>
            <a:ext cx="7378262"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